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7" r:id="rId2"/>
    <p:sldId id="298" r:id="rId3"/>
    <p:sldId id="299" r:id="rId4"/>
    <p:sldId id="300" r:id="rId5"/>
    <p:sldId id="335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8"/>
    <p:restoredTop sz="94677"/>
  </p:normalViewPr>
  <p:slideViewPr>
    <p:cSldViewPr snapToGrid="0" snapToObjects="1">
      <p:cViewPr varScale="1">
        <p:scale>
          <a:sx n="66" d="100"/>
          <a:sy n="66" d="100"/>
        </p:scale>
        <p:origin x="192" y="5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ottomAccent"/>
          <p:cNvSpPr/>
          <p:nvPr userDrawn="1"/>
        </p:nvSpPr>
        <p:spPr>
          <a:xfrm>
            <a:off x="457200" y="6400800"/>
            <a:ext cx="8229600" cy="12700"/>
          </a:xfrm>
          <a:prstGeom prst="rect">
            <a:avLst/>
          </a:prstGeom>
          <a:solidFill>
            <a:srgbClr val="3D5A8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LeftAccent"/>
          <p:cNvSpPr/>
          <p:nvPr userDrawn="1"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3D5A80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2B2D4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2B2D4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2B2D4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B2D4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B2D4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2B2D4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rgbClr val="2B2D42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2B2D42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2B2D42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2B2D42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2B2D42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968500"/>
            <a:ext cx="10363200" cy="254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33600"/>
            <a:ext cx="103632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3200" b="1" dirty="0">
                <a:solidFill>
                  <a:srgbClr val="2B2D42"/>
                </a:solidFill>
                <a:latin typeface="Palatino Linotype"/>
              </a:rPr>
              <a:t>Economic Resilience Assessment Using the</a:t>
            </a:r>
          </a:p>
          <a:p>
            <a:pPr algn="ctr"/>
            <a:r>
              <a:rPr lang="en-US" sz="3200" b="1" dirty="0">
                <a:solidFill>
                  <a:srgbClr val="2B2D42"/>
                </a:solidFill>
                <a:latin typeface="Palatino Linotype"/>
              </a:rPr>
              <a:t>Dynamic Inoperability Input-Output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322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5C6B7A"/>
                </a:solidFill>
                <a:latin typeface="Segoe UI"/>
              </a:rPr>
              <a:t>Final Year Project</a:t>
            </a:r>
            <a:r>
              <a:rPr lang="en-US" sz="1600" b="0" dirty="0">
                <a:solidFill>
                  <a:srgbClr val="8D99AE"/>
                </a:solidFill>
                <a:latin typeface="Segoe UI"/>
              </a:rPr>
              <a:t>  |  </a:t>
            </a:r>
            <a:r>
              <a:rPr lang="en-US" sz="1600" b="0" dirty="0">
                <a:solidFill>
                  <a:srgbClr val="5C6B7A"/>
                </a:solidFill>
                <a:latin typeface="Segoe UI"/>
              </a:rPr>
              <a:t>Presented to DSO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4500"/>
            <a:ext cx="103632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500" b="1" dirty="0">
                <a:solidFill>
                  <a:srgbClr val="2B2D42"/>
                </a:solidFill>
                <a:latin typeface="Segoe UI"/>
              </a:rPr>
              <a:t>Yeoh Yu Yong</a:t>
            </a:r>
          </a:p>
          <a:p>
            <a:pPr algn="ctr">
              <a:spcAft>
                <a:spcPts val="100"/>
              </a:spcAft>
            </a:pPr>
            <a:r>
              <a:rPr lang="en-US" sz="1400" b="0" dirty="0">
                <a:solidFill>
                  <a:srgbClr val="5C6B7A"/>
                </a:solidFill>
                <a:latin typeface="Segoe UI"/>
              </a:rPr>
              <a:t>Supervisor: Assoc Prof Santos</a:t>
            </a:r>
          </a:p>
          <a:p>
            <a:pPr algn="ctr">
              <a:spcAft>
                <a:spcPts val="100"/>
              </a:spcAft>
            </a:pPr>
            <a:r>
              <a:rPr lang="en-US" sz="1400" b="0" dirty="0">
                <a:solidFill>
                  <a:srgbClr val="5C6B7A"/>
                </a:solidFill>
                <a:latin typeface="Segoe UI"/>
              </a:rPr>
              <a:t>Nanyang Technological University,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89400"/>
            <a:ext cx="10363200" cy="254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787549" cy="731520"/>
          </a:xfrm>
          <a:prstGeom prst="rect">
            <a:avLst/>
          </a:prstGeom>
        </p:spPr>
      </p:pic>
      <p:sp>
        <p:nvSpPr>
          <p:cNvPr id="20" name="EqDecor"/>
          <p:cNvSpPr/>
          <p:nvPr/>
        </p:nvSpPr>
        <p:spPr>
          <a:xfrm>
            <a:off x="914400" y="6223000"/>
            <a:ext cx="10363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0" i="1" dirty="0">
                <a:solidFill>
                  <a:srgbClr val="8D99AE"/>
                </a:solidFill>
                <a:latin typeface="Cambria Math"/>
              </a:rPr>
              <a:t>q(t) = A</a:t>
            </a:r>
            <a:r>
              <a:rPr lang="en-US" sz="1100" b="0" i="1" baseline="-25000" dirty="0">
                <a:solidFill>
                  <a:srgbClr val="8D99AE"/>
                </a:solidFill>
                <a:latin typeface="Cambria Math"/>
              </a:rPr>
              <a:t>*</a:t>
            </a:r>
            <a:r>
              <a:rPr lang="en-US" sz="1100" b="0" i="1" dirty="0">
                <a:solidFill>
                  <a:srgbClr val="8D99AE"/>
                </a:solidFill>
                <a:latin typeface="Cambria Math"/>
              </a:rPr>
              <a:t> [q(t) − q(t−1)] + c</a:t>
            </a:r>
            <a:r>
              <a:rPr lang="en-US" sz="1100" b="0" i="1" baseline="-25000" dirty="0">
                <a:solidFill>
                  <a:srgbClr val="8D99AE"/>
                </a:solidFill>
                <a:latin typeface="Cambria Math"/>
              </a:rPr>
              <a:t>*</a:t>
            </a:r>
            <a:r>
              <a:rPr lang="en-US" sz="1100" b="0" i="1" dirty="0">
                <a:solidFill>
                  <a:srgbClr val="8D99AE"/>
                </a:solidFill>
                <a:latin typeface="Cambria Math"/>
              </a:rPr>
              <a:t>(t)</a:t>
            </a:r>
          </a:p>
        </p:txBody>
      </p:sp>
    </p:spTree>
    <p:extLst>
      <p:ext uri="{BB962C8B-B14F-4D97-AF65-F5344CB8AC3E}">
        <p14:creationId xmlns:p14="http://schemas.microsoft.com/office/powerpoint/2010/main" val="3065024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Palatino Linotype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2261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2B2D42"/>
                </a:solidFill>
                <a:latin typeface="Segoe UI"/>
              </a:rPr>
              <a:t>Singapore’s economy is interconnected — a shock to one sector cascades to all others.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0574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2B2D42"/>
                </a:solidFill>
                <a:latin typeface="Segoe UI"/>
              </a:rPr>
              <a:t>COVID-19 shutdowns disrupted construction, which deprived building-material manufacturers of demand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2B2D42"/>
                </a:solidFill>
                <a:latin typeface="Segoe UI"/>
              </a:rPr>
              <a:t>Transport restrictions cascaded into logistics and food supply chains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2B2D42"/>
                </a:solidFill>
                <a:latin typeface="Segoe UI"/>
              </a:rPr>
              <a:t>Grey zone conflicts could trigger rapid foreign worker departures, disrupting labour-dependent sectors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617720"/>
            <a:ext cx="9448495" cy="10972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400" b="1" dirty="0">
                <a:solidFill>
                  <a:srgbClr val="3D5A80"/>
                </a:solidFill>
                <a:latin typeface="Segoe UI"/>
              </a:rPr>
              <a:t>Key Question</a:t>
            </a:r>
            <a:r>
              <a:rPr sz="1400" b="0" dirty="0">
                <a:solidFill>
                  <a:srgbClr val="2B2D42"/>
                </a:solidFill>
                <a:latin typeface="Segoe UI"/>
              </a:rPr>
              <a:t>   How do we quickly identify which sectors to prioritise for intervention during a crisis?</a:t>
            </a:r>
          </a:p>
        </p:txBody>
      </p:sp>
    </p:spTree>
    <p:extLst>
      <p:ext uri="{BB962C8B-B14F-4D97-AF65-F5344CB8AC3E}">
        <p14:creationId xmlns:p14="http://schemas.microsoft.com/office/powerpoint/2010/main" val="355141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2261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11430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B2D42"/>
                </a:solidFill>
                <a:latin typeface="Segoe UI"/>
              </a:rPr>
              <a:t>Apply the DIIM to two disruption scenarios:
COVID-19 pandemic  &amp;  Manpower disruption (grey zone conflict)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6974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B2D42"/>
                </a:solidFill>
                <a:latin typeface="Segoe UI"/>
              </a:rPr>
              <a:t>Benchmark five simplified sector-ranking methods
against the full DIIM simulation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519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B2D42"/>
                </a:solidFill>
                <a:latin typeface="Segoe UI"/>
              </a:rPr>
              <a:t>Determine when simplified methods are sufficient
vs when the full DIIM is needed</a:t>
            </a:r>
          </a:p>
        </p:txBody>
      </p:sp>
    </p:spTree>
    <p:extLst>
      <p:ext uri="{BB962C8B-B14F-4D97-AF65-F5344CB8AC3E}">
        <p14:creationId xmlns:p14="http://schemas.microsoft.com/office/powerpoint/2010/main" val="303329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Presentation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2261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0907" y="1874520"/>
            <a:ext cx="1554480" cy="20116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090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90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DIIM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90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Model construction
&amp; 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538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43987" y="1874520"/>
            <a:ext cx="1554480" cy="20116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4398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4398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DIIM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398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Inoperability &amp;
economic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846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7067" y="1874520"/>
            <a:ext cx="1554480" cy="20116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2706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706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Simplified
Methods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706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5 alternative
ranking approaches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154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147" y="1874520"/>
            <a:ext cx="1554480" cy="20116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014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014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Monte Carlo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014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2,000 trial
robustness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6462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3227" y="1874520"/>
            <a:ext cx="1554480" cy="20116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9322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322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322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Close rates &amp;
performance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7707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76307" y="1874520"/>
            <a:ext cx="1554480" cy="20116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76307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6307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Recommend-
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76307" y="30632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Decision
framework</a:t>
            </a:r>
          </a:p>
        </p:txBody>
      </p:sp>
    </p:spTree>
    <p:extLst>
      <p:ext uri="{BB962C8B-B14F-4D97-AF65-F5344CB8AC3E}">
        <p14:creationId xmlns:p14="http://schemas.microsoft.com/office/powerpoint/2010/main" val="127574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 lIns="457200" tIns="0" rIns="457200" bIns="0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The DIIM Model</a:t>
            </a:r>
          </a:p>
        </p:txBody>
      </p:sp>
      <p:sp>
        <p:nvSpPr>
          <p:cNvPr id="101" name="NavBar"/>
          <p:cNvSpPr/>
          <p:nvPr/>
        </p:nvSpPr>
        <p:spPr>
          <a:xfrm>
            <a:off x="0" y="571500"/>
            <a:ext cx="12192000" cy="3556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avItem0"/>
          <p:cNvSpPr/>
          <p:nvPr/>
        </p:nvSpPr>
        <p:spPr>
          <a:xfrm>
            <a:off x="0" y="571500"/>
            <a:ext cx="1741714" cy="355600"/>
          </a:xfrm>
          <a:prstGeom prst="rect">
            <a:avLst/>
          </a:prstGeom>
          <a:noFill/>
          <a:ln>
            <a:noFill/>
          </a:ln>
        </p:spPr>
        <p:txBody>
          <a:bodyPr wrap="none" lIns="36000" tIns="0" rIns="36000" bIns="0" anchor="ctr"/>
          <a:lstStyle/>
          <a:p>
            <a:pPr algn="ctr"/>
            <a:r>
              <a:rPr lang="en-US" sz="900" b="0" dirty="0">
                <a:solidFill>
                  <a:srgbClr val="D0D8E0"/>
                </a:solidFill>
                <a:latin typeface="Calibri"/>
              </a:rPr>
              <a:t>Introduction</a:t>
            </a:r>
          </a:p>
        </p:txBody>
      </p:sp>
      <p:sp>
        <p:nvSpPr>
          <p:cNvPr id="103" name="NavHighlight"/>
          <p:cNvSpPr/>
          <p:nvPr/>
        </p:nvSpPr>
        <p:spPr>
          <a:xfrm>
            <a:off x="1741714" y="571500"/>
            <a:ext cx="1741714" cy="355600"/>
          </a:xfrm>
          <a:prstGeom prst="rect">
            <a:avLst/>
          </a:prstGeom>
          <a:solidFill>
            <a:srgbClr val="8D99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NavItem1"/>
          <p:cNvSpPr/>
          <p:nvPr/>
        </p:nvSpPr>
        <p:spPr>
          <a:xfrm>
            <a:off x="1741714" y="571500"/>
            <a:ext cx="1741714" cy="355600"/>
          </a:xfrm>
          <a:prstGeom prst="rect">
            <a:avLst/>
          </a:prstGeom>
          <a:noFill/>
          <a:ln>
            <a:noFill/>
          </a:ln>
        </p:spPr>
        <p:txBody>
          <a:bodyPr wrap="none" lIns="36000" tIns="0" rIns="3600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DIIM Model</a:t>
            </a:r>
          </a:p>
        </p:txBody>
      </p:sp>
      <p:sp>
        <p:nvSpPr>
          <p:cNvPr id="105" name="NavItem2"/>
          <p:cNvSpPr/>
          <p:nvPr/>
        </p:nvSpPr>
        <p:spPr>
          <a:xfrm>
            <a:off x="3483428" y="571500"/>
            <a:ext cx="1741714" cy="355600"/>
          </a:xfrm>
          <a:prstGeom prst="rect">
            <a:avLst/>
          </a:prstGeom>
          <a:noFill/>
          <a:ln>
            <a:noFill/>
          </a:ln>
        </p:spPr>
        <p:txBody>
          <a:bodyPr wrap="none" lIns="36000" tIns="0" rIns="36000" bIns="0" anchor="ctr"/>
          <a:lstStyle/>
          <a:p>
            <a:pPr algn="ctr"/>
            <a:r>
              <a:rPr lang="en-US" sz="900" b="0" dirty="0">
                <a:solidFill>
                  <a:srgbClr val="D0D8E0"/>
                </a:solidFill>
                <a:latin typeface="Calibri"/>
              </a:rPr>
              <a:t>DIIM Results</a:t>
            </a:r>
          </a:p>
        </p:txBody>
      </p:sp>
      <p:sp>
        <p:nvSpPr>
          <p:cNvPr id="106" name="NavItem3"/>
          <p:cNvSpPr/>
          <p:nvPr/>
        </p:nvSpPr>
        <p:spPr>
          <a:xfrm>
            <a:off x="5225142" y="571500"/>
            <a:ext cx="1741714" cy="355600"/>
          </a:xfrm>
          <a:prstGeom prst="rect">
            <a:avLst/>
          </a:prstGeom>
          <a:noFill/>
          <a:ln>
            <a:noFill/>
          </a:ln>
        </p:spPr>
        <p:txBody>
          <a:bodyPr wrap="none" lIns="36000" tIns="0" rIns="36000" bIns="0" anchor="ctr"/>
          <a:lstStyle/>
          <a:p>
            <a:pPr algn="ctr"/>
            <a:r>
              <a:rPr lang="en-US" sz="900" b="0" dirty="0">
                <a:solidFill>
                  <a:srgbClr val="D0D8E0"/>
                </a:solidFill>
                <a:latin typeface="Calibri"/>
              </a:rPr>
              <a:t>Simplified Methods</a:t>
            </a:r>
          </a:p>
        </p:txBody>
      </p:sp>
      <p:sp>
        <p:nvSpPr>
          <p:cNvPr id="107" name="NavItem4"/>
          <p:cNvSpPr/>
          <p:nvPr/>
        </p:nvSpPr>
        <p:spPr>
          <a:xfrm>
            <a:off x="6966856" y="571500"/>
            <a:ext cx="1741714" cy="355600"/>
          </a:xfrm>
          <a:prstGeom prst="rect">
            <a:avLst/>
          </a:prstGeom>
          <a:noFill/>
          <a:ln>
            <a:noFill/>
          </a:ln>
        </p:spPr>
        <p:txBody>
          <a:bodyPr wrap="none" lIns="36000" tIns="0" rIns="36000" bIns="0" anchor="ctr"/>
          <a:lstStyle/>
          <a:p>
            <a:pPr algn="ctr"/>
            <a:r>
              <a:rPr lang="en-US" sz="900" b="0" dirty="0">
                <a:solidFill>
                  <a:srgbClr val="D0D8E0"/>
                </a:solidFill>
                <a:latin typeface="Calibri"/>
              </a:rPr>
              <a:t>Monte Carlo</a:t>
            </a:r>
          </a:p>
        </p:txBody>
      </p:sp>
      <p:sp>
        <p:nvSpPr>
          <p:cNvPr id="108" name="NavItem5"/>
          <p:cNvSpPr/>
          <p:nvPr/>
        </p:nvSpPr>
        <p:spPr>
          <a:xfrm>
            <a:off x="8708570" y="571500"/>
            <a:ext cx="1741714" cy="355600"/>
          </a:xfrm>
          <a:prstGeom prst="rect">
            <a:avLst/>
          </a:prstGeom>
          <a:noFill/>
          <a:ln>
            <a:noFill/>
          </a:ln>
        </p:spPr>
        <p:txBody>
          <a:bodyPr wrap="none" lIns="36000" tIns="0" rIns="36000" bIns="0" anchor="ctr"/>
          <a:lstStyle/>
          <a:p>
            <a:pPr algn="ctr"/>
            <a:r>
              <a:rPr lang="en-US" sz="900" b="0" dirty="0">
                <a:solidFill>
                  <a:srgbClr val="D0D8E0"/>
                </a:solidFill>
                <a:latin typeface="Calibri"/>
              </a:rPr>
              <a:t>Results</a:t>
            </a:r>
          </a:p>
        </p:txBody>
      </p:sp>
      <p:sp>
        <p:nvSpPr>
          <p:cNvPr id="109" name="NavItem6"/>
          <p:cNvSpPr/>
          <p:nvPr/>
        </p:nvSpPr>
        <p:spPr>
          <a:xfrm>
            <a:off x="10450284" y="571500"/>
            <a:ext cx="1741714" cy="355600"/>
          </a:xfrm>
          <a:prstGeom prst="rect">
            <a:avLst/>
          </a:prstGeom>
          <a:noFill/>
          <a:ln>
            <a:noFill/>
          </a:ln>
        </p:spPr>
        <p:txBody>
          <a:bodyPr wrap="none" lIns="36000" tIns="0" rIns="36000" bIns="0" anchor="ctr"/>
          <a:lstStyle/>
          <a:p>
            <a:pPr algn="ctr"/>
            <a:r>
              <a:rPr lang="en-US" sz="900" b="0" dirty="0">
                <a:solidFill>
                  <a:srgbClr val="D0D8E0"/>
                </a:solidFill>
                <a:latin typeface="Calibri"/>
              </a:rPr>
              <a:t>Recommendations</a:t>
            </a:r>
          </a:p>
        </p:txBody>
      </p:sp>
      <p:sp>
        <p:nvSpPr>
          <p:cNvPr id="110" name="AccentLine"/>
          <p:cNvSpPr/>
          <p:nvPr/>
        </p:nvSpPr>
        <p:spPr>
          <a:xfrm>
            <a:off x="0" y="927100"/>
            <a:ext cx="12192000" cy="254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ontentBg"/>
          <p:cNvSpPr/>
          <p:nvPr/>
        </p:nvSpPr>
        <p:spPr>
          <a:xfrm>
            <a:off x="0" y="952500"/>
            <a:ext cx="12192000" cy="53975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ectionNum"/>
          <p:cNvSpPr/>
          <p:nvPr/>
        </p:nvSpPr>
        <p:spPr>
          <a:xfrm>
            <a:off x="0" y="30480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ctr"/>
            <a:r>
              <a:rPr lang="en-US" sz="2800" b="1" dirty="0">
                <a:solidFill>
                  <a:srgbClr val="2B2D42"/>
                </a:solidFill>
                <a:latin typeface="Calibri"/>
              </a:rPr>
              <a:t>Part I</a:t>
            </a:r>
          </a:p>
        </p:txBody>
      </p:sp>
      <p:sp>
        <p:nvSpPr>
          <p:cNvPr id="113" name="SectionTitle"/>
          <p:cNvSpPr/>
          <p:nvPr/>
        </p:nvSpPr>
        <p:spPr>
          <a:xfrm>
            <a:off x="914400" y="35814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/>
            <a:r>
              <a:rPr lang="en-US" sz="3600" b="1" dirty="0">
                <a:solidFill>
                  <a:srgbClr val="2B2D42"/>
                </a:solidFill>
                <a:latin typeface="Calibri"/>
              </a:rPr>
              <a:t>The DIIM Model</a:t>
            </a:r>
          </a:p>
        </p:txBody>
      </p:sp>
      <p:sp>
        <p:nvSpPr>
          <p:cNvPr id="114" name="Subtitle"/>
          <p:cNvSpPr/>
          <p:nvPr/>
        </p:nvSpPr>
        <p:spPr>
          <a:xfrm>
            <a:off x="1371600" y="4394200"/>
            <a:ext cx="94488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/>
            <a:r>
              <a:rPr lang="en-US" sz="1800" b="0" i="1" dirty="0">
                <a:solidFill>
                  <a:srgbClr val="3D5A80"/>
                </a:solidFill>
                <a:latin typeface="Calibri"/>
              </a:rPr>
              <a:t>Construction of the Dynamic Inoperability Input-Output Model</a:t>
            </a:r>
          </a:p>
        </p:txBody>
      </p:sp>
      <p:sp>
        <p:nvSpPr>
          <p:cNvPr id="115" name="Rule"/>
          <p:cNvSpPr/>
          <p:nvPr/>
        </p:nvSpPr>
        <p:spPr>
          <a:xfrm>
            <a:off x="3657600" y="4978400"/>
            <a:ext cx="4876800" cy="1905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FooterBar"/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FooterLeft"/>
          <p:cNvSpPr/>
          <p:nvPr/>
        </p:nvSpPr>
        <p:spPr>
          <a:xfrm>
            <a:off x="228600" y="63500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900" dirty="0">
                <a:solidFill>
                  <a:srgbClr val="C8D0DC"/>
                </a:solidFill>
                <a:latin typeface="Calibri"/>
              </a:rPr>
              <a:t>DSO-DIIM Presentation</a:t>
            </a:r>
          </a:p>
        </p:txBody>
      </p:sp>
      <p:sp>
        <p:nvSpPr>
          <p:cNvPr id="118" name="FooterCenter"/>
          <p:cNvSpPr/>
          <p:nvPr/>
        </p:nvSpPr>
        <p:spPr>
          <a:xfrm>
            <a:off x="4064000" y="63500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900" dirty="0">
                <a:solidFill>
                  <a:srgbClr val="C8D0DC"/>
                </a:solidFill>
                <a:latin typeface="Calibri"/>
              </a:rPr>
              <a:t>The DIIM Model</a:t>
            </a:r>
          </a:p>
        </p:txBody>
      </p:sp>
      <p:sp>
        <p:nvSpPr>
          <p:cNvPr id="119" name="FooterRight"/>
          <p:cNvSpPr/>
          <p:nvPr/>
        </p:nvSpPr>
        <p:spPr>
          <a:xfrm>
            <a:off x="8128000" y="6350000"/>
            <a:ext cx="39497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US" sz="900" dirty="0">
                <a:solidFill>
                  <a:srgbClr val="C8D0DC"/>
                </a:solidFill>
                <a:latin typeface="Calibri"/>
              </a:rPr>
              <a:t>5 / 38</a:t>
            </a:r>
          </a:p>
        </p:txBody>
      </p:sp>
      <p:sp>
        <p:nvSpPr>
          <p:cNvPr id="120" name="Dot0"/>
          <p:cNvSpPr/>
          <p:nvPr/>
        </p:nvSpPr>
        <p:spPr>
          <a:xfrm>
            <a:off x="5588000" y="1028700"/>
            <a:ext cx="101600" cy="101600"/>
          </a:xfrm>
          <a:prstGeom prst="ellipse">
            <a:avLst/>
          </a:prstGeom>
          <a:solidFill>
            <a:srgbClr val="8D99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Dot1"/>
          <p:cNvSpPr/>
          <p:nvPr/>
        </p:nvSpPr>
        <p:spPr>
          <a:xfrm>
            <a:off x="5740400" y="1028700"/>
            <a:ext cx="101600" cy="1016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Dot2"/>
          <p:cNvSpPr/>
          <p:nvPr/>
        </p:nvSpPr>
        <p:spPr>
          <a:xfrm>
            <a:off x="5892800" y="1028700"/>
            <a:ext cx="101600" cy="101600"/>
          </a:xfrm>
          <a:prstGeom prst="ellipse">
            <a:avLst/>
          </a:prstGeom>
          <a:solidFill>
            <a:srgbClr val="B0B8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Dot3"/>
          <p:cNvSpPr/>
          <p:nvPr/>
        </p:nvSpPr>
        <p:spPr>
          <a:xfrm>
            <a:off x="6045200" y="1028700"/>
            <a:ext cx="101600" cy="101600"/>
          </a:xfrm>
          <a:prstGeom prst="ellipse">
            <a:avLst/>
          </a:prstGeom>
          <a:solidFill>
            <a:srgbClr val="B0B8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Dot4"/>
          <p:cNvSpPr/>
          <p:nvPr/>
        </p:nvSpPr>
        <p:spPr>
          <a:xfrm>
            <a:off x="6197600" y="1028700"/>
            <a:ext cx="101600" cy="101600"/>
          </a:xfrm>
          <a:prstGeom prst="ellipse">
            <a:avLst/>
          </a:prstGeom>
          <a:solidFill>
            <a:srgbClr val="B0B8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Dot5"/>
          <p:cNvSpPr/>
          <p:nvPr/>
        </p:nvSpPr>
        <p:spPr>
          <a:xfrm>
            <a:off x="6350000" y="1028700"/>
            <a:ext cx="101600" cy="101600"/>
          </a:xfrm>
          <a:prstGeom prst="ellipse">
            <a:avLst/>
          </a:prstGeom>
          <a:solidFill>
            <a:srgbClr val="B0B8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Dot6"/>
          <p:cNvSpPr/>
          <p:nvPr/>
        </p:nvSpPr>
        <p:spPr>
          <a:xfrm>
            <a:off x="6502400" y="1028700"/>
            <a:ext cx="101600" cy="101600"/>
          </a:xfrm>
          <a:prstGeom prst="ellipse">
            <a:avLst/>
          </a:prstGeom>
          <a:solidFill>
            <a:srgbClr val="B0B8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11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What is Inoperability?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2D42"/>
                </a:solidFill>
                <a:latin typeface="Segoe UI"/>
              </a:rPr>
              <a:t>Inoperability measures the normalised production loss of each sector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965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B2D42"/>
                </a:solidFill>
                <a:latin typeface="Segoe UI"/>
              </a:rPr>
              <a:t>•  Derived from the Leontief input-output model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B2D42"/>
                </a:solidFill>
                <a:latin typeface="Segoe UI"/>
              </a:rPr>
              <a:t>•  Measures how disruptions affect the functioning of each sector over time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B2D42"/>
                </a:solidFill>
                <a:latin typeface="Segoe UI"/>
              </a:rPr>
              <a:t>•  Values range from 0 (fully operational) to 1 (complete shutdown)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600200"/>
            <a:ext cx="3657600" cy="54864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40880" y="1600200"/>
            <a:ext cx="3657600" cy="54864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1325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D42"/>
                </a:solidFill>
                <a:latin typeface="Segoe UI"/>
              </a:rPr>
              <a:t>Planned Production (100%)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3429000"/>
            <a:ext cx="3657600" cy="54864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40880" y="3429000"/>
            <a:ext cx="2194560" cy="54864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B2D42"/>
                </a:solidFill>
                <a:latin typeface="Segoe UI"/>
              </a:rPr>
              <a:t>Degraded Production (60%)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343400"/>
            <a:ext cx="4572000" cy="9144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2B2D42"/>
                </a:solidFill>
                <a:latin typeface="Segoe UI"/>
              </a:rPr>
              <a:t>Inoperability = (Planned - Degraded) / Planned
= (100% - 60%) / 100% = 0.40</a:t>
            </a:r>
          </a:p>
        </p:txBody>
      </p:sp>
    </p:spTree>
    <p:extLst>
      <p:ext uri="{BB962C8B-B14F-4D97-AF65-F5344CB8AC3E}">
        <p14:creationId xmlns:p14="http://schemas.microsoft.com/office/powerpoint/2010/main" val="260781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From IIM to DIIM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B2D42"/>
                </a:solidFill>
                <a:latin typeface="Segoe UI"/>
              </a:rPr>
              <a:t>Static IIM  →  Dynamic DIIM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1874520"/>
            <a:ext cx="4754880" cy="18288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D42"/>
                </a:solidFill>
                <a:latin typeface="Segoe UI"/>
              </a:rPr>
              <a:t>IIM (Static)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q = A*q + c*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971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B2D42"/>
                </a:solidFill>
                <a:latin typeface="Segoe UI"/>
              </a:rPr>
              <a:t>Equilibrium state only — no time dynamics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B2D42"/>
                </a:solidFill>
                <a:latin typeface="Segoe UI"/>
              </a:rPr>
              <a:t>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874520"/>
            <a:ext cx="5029200" cy="18288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1965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D42"/>
                </a:solidFill>
                <a:latin typeface="Segoe UI"/>
              </a:rPr>
              <a:t>DIIM (Dynamic)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23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B2D42"/>
                </a:solidFill>
                <a:latin typeface="Segoe UI"/>
              </a:rPr>
              <a:t>q(t+1) = q(t) + K[A*q(t) + c* − q(t)]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971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B2D42"/>
                </a:solidFill>
                <a:latin typeface="Segoe UI"/>
              </a:rPr>
              <a:t>Adds time variable t and recovery matrix 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B2D42"/>
                </a:solidFill>
                <a:latin typeface="Segoe UI"/>
              </a:rPr>
              <a:t>•  K is a diagonal matrix — recovery depends only on each sector’s own capacity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B2D42"/>
                </a:solidFill>
                <a:latin typeface="Segoe UI"/>
              </a:rPr>
              <a:t>•  Larger diagonal elements = stronger recovery capacity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B2D42"/>
                </a:solidFill>
                <a:latin typeface="Segoe UI"/>
              </a:rPr>
              <a:t>•  t is discrete time; q(t) is the inoperability vector at time t</a:t>
            </a:r>
          </a:p>
        </p:txBody>
      </p:sp>
    </p:spTree>
    <p:extLst>
      <p:ext uri="{BB962C8B-B14F-4D97-AF65-F5344CB8AC3E}">
        <p14:creationId xmlns:p14="http://schemas.microsoft.com/office/powerpoint/2010/main" val="230327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DIIM Formula: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143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B2D42"/>
                </a:solidFill>
                <a:latin typeface="Segoe UI"/>
              </a:rPr>
              <a:t>q(t+1) = q(t) + K [ A* q(t) + c* − q(t) 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0927" y="2331720"/>
            <a:ext cx="1920240" cy="146304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09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q(t)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9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Segoe UI"/>
              </a:rPr>
              <a:t>Inoperability
vector at time 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78327" y="2331720"/>
            <a:ext cx="1920240" cy="146304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783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3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Segoe UI"/>
              </a:rPr>
              <a:t>Recovery capacity
(diagonal matrix)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35727" y="2331720"/>
            <a:ext cx="1920240" cy="146304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357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A*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57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Segoe UI"/>
              </a:rPr>
              <a:t>Interdependency
matrix (from IO table)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3127" y="2331720"/>
            <a:ext cx="1920240" cy="146304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931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c*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31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Segoe UI"/>
              </a:rPr>
              <a:t>Demand
perturbation vector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50527" y="2331720"/>
            <a:ext cx="1920240" cy="146304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50527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B2D42"/>
                </a:solidFill>
                <a:latin typeface="Segoe UI"/>
              </a:rPr>
              <a:t>q(0)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0527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Segoe UI"/>
              </a:rPr>
              <a:t>Initial shock
(starting condition)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4343400"/>
            <a:ext cx="7619695" cy="73152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2B2D42"/>
                </a:solidFill>
                <a:latin typeface="Segoe UI"/>
              </a:rPr>
              <a:t>➡  We will now show how each component is obtained from real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Two phases:  Lockdown (c* ≠ 0)  →  Recovery (c* = 0)</a:t>
            </a:r>
          </a:p>
        </p:txBody>
      </p:sp>
    </p:spTree>
    <p:extLst>
      <p:ext uri="{BB962C8B-B14F-4D97-AF65-F5344CB8AC3E}">
        <p14:creationId xmlns:p14="http://schemas.microsoft.com/office/powerpoint/2010/main" val="73287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Obtaining A* — Interdependency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1B2A4A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D42"/>
                </a:solidFill>
                <a:latin typeface="Segoe UI"/>
              </a:rPr>
              <a:t>A* = x⁻¹ A x  where A is the technical coefficient matrix from the IO table and x is total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15×15 Input-Output Table from Singapore’s Department of Statistics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A = raw IO flows / total output of purchasing sector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A* normalises A by sector size for inoperability space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2019 IO table used for COVID-19; 2022 IO table for Manpower scenario</a:t>
            </a:r>
          </a:p>
        </p:txBody>
      </p:sp>
    </p:spTree>
    <p:extLst>
      <p:ext uri="{BB962C8B-B14F-4D97-AF65-F5344CB8AC3E}">
        <p14:creationId xmlns:p14="http://schemas.microsoft.com/office/powerpoint/2010/main" val="244692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Obtaining K — Recovery Capacity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1B2A4A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D42"/>
                </a:solidFill>
                <a:latin typeface="Segoe UI"/>
              </a:rPr>
              <a:t>K is a diagonal matrix where each K_ii represents sector i’s recovery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K is diagonal: sector recovery depends only on its own production capacity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Larger K_ii = faster recovery from disruption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Estimated from historical recovery patterns (Santos et al., 2009)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Terminal condition: inoperability at end = 1% of initial inoperability</a:t>
            </a:r>
          </a:p>
        </p:txBody>
      </p:sp>
    </p:spTree>
    <p:extLst>
      <p:ext uri="{BB962C8B-B14F-4D97-AF65-F5344CB8AC3E}">
        <p14:creationId xmlns:p14="http://schemas.microsoft.com/office/powerpoint/2010/main" val="348978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Obtaining q(0) — COVID-19 Initial Inoperability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1B2A4A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D42"/>
                </a:solidFill>
                <a:latin typeface="Segoe UI"/>
              </a:rPr>
              <a:t>q(0) estimated from sector-level unemployment rates during COVID-19 lockdown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Source: Ministry of Manpower unemployment data (19 years)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Linear regression + 4-year moving average to estimate “normal” 2020 rate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q(0) = (actual rate − expected rate) / expected rate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Mapped from MOM sectors to IOT 15-sector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219041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Obtaining c* — Demand Perturbation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1B2A4A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D42"/>
                </a:solidFill>
                <a:latin typeface="Segoe UI"/>
              </a:rPr>
              <a:t>c* captures the demand-side shock during the lockdown period; c* = 0 during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Estimated from GDP decline data (SingStat Table Builder)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c* represents reduced final demand during disruption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Active only during lockdown phase; set to 0 during recovery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For Manpower scenario: c* = 0 (pure supply-side shock, no demand perturbation)</a:t>
            </a:r>
          </a:p>
        </p:txBody>
      </p:sp>
    </p:spTree>
    <p:extLst>
      <p:ext uri="{BB962C8B-B14F-4D97-AF65-F5344CB8AC3E}">
        <p14:creationId xmlns:p14="http://schemas.microsoft.com/office/powerpoint/2010/main" val="2065569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Obtaining q(0) — Manpower Disruption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1B2A4A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D42"/>
                </a:solidFill>
                <a:latin typeface="Segoe UI"/>
              </a:rPr>
              <a:t>q(0) based on foreign worker dependency ratios by sector (2022 data)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Source: SG Foreign Manpower Dependency 2022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Sectors with higher foreign worker share → higher initial inoperability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2022 IO table aggregated to 15 sectors for consistency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Key difference from COVID: c* = 0 (pure supply shock from worker departures)</a:t>
            </a:r>
          </a:p>
        </p:txBody>
      </p:sp>
    </p:spTree>
    <p:extLst>
      <p:ext uri="{BB962C8B-B14F-4D97-AF65-F5344CB8AC3E}">
        <p14:creationId xmlns:p14="http://schemas.microsoft.com/office/powerpoint/2010/main" val="191194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Timeline &amp;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9834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2D42"/>
                </a:solidFill>
                <a:latin typeface="Segoe UI"/>
              </a:rPr>
              <a:t>Model Parameters &amp; Assumptions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057400"/>
            <a:ext cx="9144000" cy="13716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600" y="2057400"/>
            <a:ext cx="488746" cy="13716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1737360"/>
            <a:ext cx="48874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Lockdown
7 Apr – 1 Jun 2020 (55 days)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0346" y="1737360"/>
            <a:ext cx="86552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B2D42"/>
                </a:solidFill>
                <a:latin typeface="Segoe UI"/>
              </a:rPr>
              <a:t>Recovery
2 Jun 2020 – 1 Feb 2023 (974 days)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788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B2D42"/>
                </a:solidFill>
                <a:latin typeface="Segoe UI"/>
              </a:rPr>
              <a:t>•  No further shocks after initial lockdown period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B2D42"/>
                </a:solidFill>
                <a:latin typeface="Segoe UI"/>
              </a:rPr>
              <a:t>•  Terminal inoperability = 1% of initial inoperability (Santos et al., 2009)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B2D42"/>
                </a:solidFill>
                <a:latin typeface="Segoe UI"/>
              </a:rPr>
              <a:t>•  Production distributed evenly over the year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B2D42"/>
                </a:solidFill>
                <a:latin typeface="Segoe UI"/>
              </a:rPr>
              <a:t>•  Lockdown phase: c* ≠ 0 (demand shock active)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2B2D42"/>
                </a:solidFill>
                <a:latin typeface="Segoe UI"/>
              </a:rPr>
              <a:t>•  Recovery phase: c* = 0 (demand returns to normal)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788920"/>
            <a:ext cx="4572000" cy="22860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2B2D42"/>
                </a:solidFill>
                <a:latin typeface="Segoe UI"/>
              </a:rPr>
              <a:t>Manpower Scenario Differences:
•  2022 IO table (vs 2019)
•  c* = 0 throughout (pure supply shock)
•  q(0) from foreign worker dependency
•  Same recovery framework applies</a:t>
            </a:r>
          </a:p>
        </p:txBody>
      </p:sp>
    </p:spTree>
    <p:extLst>
      <p:ext uri="{BB962C8B-B14F-4D97-AF65-F5344CB8AC3E}">
        <p14:creationId xmlns:p14="http://schemas.microsoft.com/office/powerpoint/2010/main" val="1197408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alatino Linotype"/>
              </a:rPr>
              <a:t>DIIM Simulation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Inoperability propagation and economic loss across sectors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2D42"/>
                </a:solidFill>
                <a:latin typeface="Segoe UI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32234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Inoperability Evolution — COVID-19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pic>
        <p:nvPicPr>
          <p:cNvPr id="20" name="Picture 19" descr="Inoperability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Each line = one sector’s inoperability over time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Sharp rise during lockdown (c* ≠ 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Gradual recovery after lockdown ends (c* = 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Some sectors recover faster (higher K_ii)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DIIM captures the full cascade dynamics</a:t>
            </a:r>
          </a:p>
        </p:txBody>
      </p:sp>
    </p:spTree>
    <p:extLst>
      <p:ext uri="{BB962C8B-B14F-4D97-AF65-F5344CB8AC3E}">
        <p14:creationId xmlns:p14="http://schemas.microsoft.com/office/powerpoint/2010/main" val="3471248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Economic Loss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2D42"/>
                </a:solidFill>
                <a:latin typeface="Segoe UI"/>
              </a:rPr>
              <a:t>Economic loss per sector per time step: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187452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B2D42"/>
                </a:solidFill>
                <a:latin typeface="Segoe UI"/>
              </a:rPr>
              <a:t>Loss_i(t) = x_i × q_i(t) / 365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971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D42"/>
                </a:solidFill>
                <a:latin typeface="Segoe UI"/>
              </a:rPr>
              <a:t>x_i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971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D42"/>
                </a:solidFill>
                <a:latin typeface="Segoe UI"/>
              </a:rPr>
              <a:t>=  Daily output of sector i under normal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20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D42"/>
                </a:solidFill>
                <a:latin typeface="Segoe UI"/>
              </a:rPr>
              <a:t>q_i(t)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520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D42"/>
                </a:solidFill>
                <a:latin typeface="Segoe UI"/>
              </a:rPr>
              <a:t>=  Inoperability of sector i at time 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D42"/>
                </a:solidFill>
                <a:latin typeface="Segoe UI"/>
              </a:rPr>
              <a:t>365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D42"/>
                </a:solidFill>
                <a:latin typeface="Segoe UI"/>
              </a:rPr>
              <a:t>=  Days in a year (evenly distributed production)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B2D42"/>
                </a:solidFill>
                <a:latin typeface="Segoe UI"/>
              </a:rPr>
              <a:t>Total economic loss = ∑ Loss_i(t)  summed over all sectors and time steps</a:t>
            </a:r>
          </a:p>
        </p:txBody>
      </p:sp>
    </p:spTree>
    <p:extLst>
      <p:ext uri="{BB962C8B-B14F-4D97-AF65-F5344CB8AC3E}">
        <p14:creationId xmlns:p14="http://schemas.microsoft.com/office/powerpoint/2010/main" val="3346514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COVID-19 vs Manpower: Economic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143000"/>
            <a:ext cx="5120640" cy="4114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B2D42"/>
                </a:solidFill>
                <a:latin typeface="Segoe UI"/>
              </a:rPr>
              <a:t>COVID-19 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43000"/>
            <a:ext cx="5120640" cy="4114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B2D42"/>
                </a:solidFill>
                <a:latin typeface="Segoe UI"/>
              </a:rPr>
              <a:t>Manpower Scenario</a:t>
            </a:r>
          </a:p>
        </p:txBody>
      </p:sp>
      <p:pic>
        <p:nvPicPr>
          <p:cNvPr id="22" name="Picture 21" descr="Economic_Loss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120640" cy="4114800"/>
          </a:xfrm>
          <a:prstGeom prst="rect">
            <a:avLst/>
          </a:prstGeom>
        </p:spPr>
      </p:pic>
      <p:pic>
        <p:nvPicPr>
          <p:cNvPr id="23" name="Picture 22" descr="Economic_Loss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114800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5897880"/>
          <a:ext cx="10881360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COVID-19</a:t>
                      </a:r>
                    </a:p>
                  </a:txBody>
                  <a:tcPr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Manpower</a:t>
                      </a:r>
                    </a:p>
                  </a:txBody>
                  <a:tcPr>
                    <a:solidFill>
                      <a:srgbClr val="2E5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IO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Shock Type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Supply + Demand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Supply Only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Non-zero (lockdown)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q(0) Source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Unemployment rates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Foreign worker dependency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521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7407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143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B2D42"/>
                </a:solidFill>
                <a:latin typeface="Segoe U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6060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B2D42"/>
                </a:solidFill>
                <a:latin typeface="Segoe UI"/>
              </a:rPr>
              <a:t>Can we identify critical sectors WITHOUT running the full DIIM?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33756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B2D42"/>
                </a:solidFill>
                <a:latin typeface="Segoe UI"/>
              </a:rPr>
              <a:t>The DIIM requires crisis-time data (q(0), c*) that may not be available during an emergency. Simplified methods use only the IO table structure, which is always available.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5349240"/>
            <a:ext cx="8534095" cy="9144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2B2D42"/>
                </a:solidFill>
                <a:latin typeface="Segoe UI"/>
              </a:rPr>
              <a:t>If simplified methods match DIIM’s recommendations → faster, more practical decision-making in crisis</a:t>
            </a:r>
          </a:p>
        </p:txBody>
      </p:sp>
    </p:spTree>
    <p:extLst>
      <p:ext uri="{BB962C8B-B14F-4D97-AF65-F5344CB8AC3E}">
        <p14:creationId xmlns:p14="http://schemas.microsoft.com/office/powerpoint/2010/main" val="931346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alatino Linotype"/>
              </a:rPr>
              <a:t>Simplified Sector-Ranking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Five methods that use only the IO table to rank sectors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2D42"/>
                </a:solidFill>
                <a:latin typeface="Segoe UI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529306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Five Simplified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" y="114300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Intuition</a:t>
                      </a:r>
                    </a:p>
                  </a:txBody>
                  <a:tcPr>
                    <a:solidFill>
                      <a:srgbClr val="0097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rank by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Biggest sectors matter most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PCA × x_i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PC distance × x_i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Structural influence + size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PageRank ×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PageRank centrality ×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Network importance +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BL × x_i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Backward linkage × x_i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Demand-pull influence + size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 ×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Forward linkage × x_i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Supply-push influence +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1828800" y="4983480"/>
            <a:ext cx="8534095" cy="82296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2B2D42"/>
                </a:solidFill>
                <a:latin typeface="Segoe UI"/>
              </a:rPr>
              <a:t>💡  Key insight: All methods are weighted by total output (x_i) to reflect economic size. This means economic size is always a factor in the ranking.</a:t>
            </a:r>
          </a:p>
        </p:txBody>
      </p:sp>
    </p:spTree>
    <p:extLst>
      <p:ext uri="{BB962C8B-B14F-4D97-AF65-F5344CB8AC3E}">
        <p14:creationId xmlns:p14="http://schemas.microsoft.com/office/powerpoint/2010/main" val="3971310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Evaluation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58087" y="1143000"/>
            <a:ext cx="2194560" cy="22860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58087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D42"/>
                </a:solidFill>
                <a:latin typeface="Segoe UI"/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8087" y="1691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D42"/>
                </a:solidFill>
                <a:latin typeface="Segoe UI"/>
              </a:rPr>
              <a:t>Compute
Simplified
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8087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Segoe UI"/>
              </a:rPr>
              <a:t>Static, no
simulation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2647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B2D42"/>
                </a:solidFill>
                <a:latin typeface="Segoe UI"/>
              </a:rPr>
              <a:t>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18407" y="1143000"/>
            <a:ext cx="2194560" cy="22860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18407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D42"/>
                </a:solidFill>
                <a:latin typeface="Segoe U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8407" y="1691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D42"/>
                </a:solidFill>
                <a:latin typeface="Segoe UI"/>
              </a:rPr>
              <a:t>Select
Top-k
Sectors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8407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Segoe UI"/>
              </a:rPr>
              <a:t>Choose k most
important sectors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2967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B2D42"/>
                </a:solidFill>
                <a:latin typeface="Segoe UI"/>
              </a:rPr>
              <a:t>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8727" y="1143000"/>
            <a:ext cx="2194560" cy="22860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78727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D42"/>
                </a:solidFill>
                <a:latin typeface="Segoe UI"/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8727" y="1691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D42"/>
                </a:solidFill>
                <a:latin typeface="Segoe UI"/>
              </a:rPr>
              <a:t>Run DIIM
with
Intervention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8727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Segoe UI"/>
              </a:rPr>
              <a:t>Reduce inoperability
for selected sectors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3287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B2D42"/>
                </a:solidFill>
                <a:latin typeface="Segoe UI"/>
              </a:rPr>
              <a:t>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39047" y="1143000"/>
            <a:ext cx="2194560" cy="22860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39047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D42"/>
                </a:solidFill>
                <a:latin typeface="Segoe UI"/>
              </a:rP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9047" y="1691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B2D42"/>
                </a:solidFill>
                <a:latin typeface="Segoe UI"/>
              </a:rPr>
              <a:t>Compare
Loss
Reduction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9047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B2D42"/>
                </a:solidFill>
                <a:latin typeface="Segoe UI"/>
              </a:rPr>
              <a:t>vs DIIM’s own
top-k selection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069080"/>
            <a:ext cx="8534095" cy="146304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2B2D42"/>
                </a:solidFill>
                <a:latin typeface="Segoe UI"/>
              </a:rPr>
              <a:t>Performance Metric:  R_m = (Simplified reduction) / (DIIM reduction)
R_m = 1.0 means the simplified method matches DIIM perfectly
R_m &lt; 0.8 means the simplified method misses &gt;20% of DIIM’s benefit</a:t>
            </a:r>
          </a:p>
        </p:txBody>
      </p:sp>
    </p:spTree>
    <p:extLst>
      <p:ext uri="{BB962C8B-B14F-4D97-AF65-F5344CB8AC3E}">
        <p14:creationId xmlns:p14="http://schemas.microsoft.com/office/powerpoint/2010/main" val="2801052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Method Rankings — Side by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23847" y="1143000"/>
            <a:ext cx="9144000" cy="4114800"/>
          </a:xfrm>
          <a:prstGeom prst="rect">
            <a:avLst/>
          </a:prstGeom>
          <a:solidFill>
            <a:srgbClr val="3D5A80"/>
          </a:solidFill>
          <a:ln w="635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1B2A4A"/>
                </a:solidFill>
                <a:latin typeface="Calibri"/>
              </a:rPr>
              <a:t>[Insert image]
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949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D42"/>
                </a:solidFill>
                <a:latin typeface="Segoe UI"/>
              </a:rPr>
              <a:t>Each column shows one method’s sector ranking. Arrows highlight where rankings agree or disagree.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5216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Rankings are fixed (computed once from IO table)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These static rankings are then tested against 2,000 random disruption profiles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Key observation: most methods agree on the top 2–3 sectors</a:t>
            </a:r>
          </a:p>
        </p:txBody>
      </p:sp>
    </p:spTree>
    <p:extLst>
      <p:ext uri="{BB962C8B-B14F-4D97-AF65-F5344CB8AC3E}">
        <p14:creationId xmlns:p14="http://schemas.microsoft.com/office/powerpoint/2010/main" val="3717303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Loss Reduction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4980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2D42"/>
                </a:solidFill>
                <a:latin typeface="Segoe UI"/>
              </a:rPr>
              <a:t>How intervention reduces economic loss: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8745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B2D42"/>
                </a:solidFill>
                <a:latin typeface="Segoe UI"/>
              </a:rPr>
              <a:t>•  1. For each selected sector i, reduce its inoperability: q_i(0) → q_i(0) × 0.5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B2D42"/>
                </a:solidFill>
                <a:latin typeface="Segoe UI"/>
              </a:rPr>
              <a:t>•  2. Re-run DIIM with the modified q(0) vector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B2D42"/>
                </a:solidFill>
                <a:latin typeface="Segoe UI"/>
              </a:rPr>
              <a:t>•  3. Compute total economic loss under intervention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2B2D42"/>
                </a:solidFill>
                <a:latin typeface="Segoe UI"/>
              </a:rPr>
              <a:t>•  4. Loss reduction = baseline loss − intervention loss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600200"/>
            <a:ext cx="4572000" cy="27432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2B2D42"/>
                </a:solidFill>
                <a:latin typeface="Segoe UI"/>
              </a:rPr>
              <a:t>The simplified ranking is fixed — it doesn’t change with q(0).
But DIIM’s optimal ranking can change with each disruption profile.
Question: How often does the simplified ranking still pick
the “right” sectors?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B2D42"/>
                </a:solidFill>
                <a:latin typeface="Segoe UI"/>
              </a:rPr>
              <a:t>➡  Answer: Monte Carlo simulation with 2,000 random disruption profiles</a:t>
            </a:r>
          </a:p>
        </p:txBody>
      </p:sp>
    </p:spTree>
    <p:extLst>
      <p:ext uri="{BB962C8B-B14F-4D97-AF65-F5344CB8AC3E}">
        <p14:creationId xmlns:p14="http://schemas.microsoft.com/office/powerpoint/2010/main" val="599262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alatino Linotype"/>
              </a:rPr>
              <a:t>Monte Carlo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Testing robustness with 2,000 random disruption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92553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2D42"/>
                </a:solidFill>
                <a:latin typeface="Segoe UI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75172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Monte Carlo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92553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D42"/>
                </a:solidFill>
                <a:latin typeface="Segoe UI"/>
              </a:rPr>
              <a:t>Start with real q(0) baseline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D42"/>
                </a:solidFill>
                <a:latin typeface="Segoe UI"/>
              </a:rPr>
              <a:t>Perturb: q(0)_rand = q(0) × exp(N(0, 0.5))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D42"/>
                </a:solidFill>
                <a:latin typeface="Segoe UI"/>
              </a:rPr>
              <a:t>Run DIIM baseline + DIIM with simplified top-k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D42"/>
                </a:solidFill>
                <a:latin typeface="Segoe UI"/>
              </a:rPr>
              <a:t>Compute R_m = simplified / DIIM reduction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D42"/>
                </a:solidFill>
                <a:latin typeface="Segoe UI"/>
              </a:rPr>
              <a:t>Repeat 2,000 times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1143000"/>
            <a:ext cx="4114800" cy="32004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2B2D42"/>
                </a:solidFill>
                <a:latin typeface="Segoe UI"/>
              </a:rPr>
              <a:t>Performance Metrics:
•  Mean Ratio (R̄_m):
   Average R_m across all 2,000 trials
•  80% Close Rate:
   Fraction of trials where R_m ≥ 0.80
   (simplified captures ≥80% of DIIM benefit)</a:t>
            </a:r>
          </a:p>
        </p:txBody>
      </p:sp>
    </p:spTree>
    <p:extLst>
      <p:ext uri="{BB962C8B-B14F-4D97-AF65-F5344CB8AC3E}">
        <p14:creationId xmlns:p14="http://schemas.microsoft.com/office/powerpoint/2010/main" val="802984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Three Performance Regimes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92553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487" y="1143000"/>
            <a:ext cx="3200400" cy="32004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487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D42"/>
                </a:solidFill>
                <a:latin typeface="Segoe UI"/>
              </a:rPr>
              <a:t>Small k (k=3)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487" y="1874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Methods diverge
significantly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8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R̄_m: 0.65–0.87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487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D42"/>
                </a:solidFill>
                <a:latin typeface="Segoe UI"/>
              </a:rPr>
              <a:t>Sector selection
matters most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5647" y="1143000"/>
            <a:ext cx="3200400" cy="32004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95647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D42"/>
                </a:solidFill>
                <a:latin typeface="Segoe UI"/>
              </a:rPr>
              <a:t>Medium k (k=5–7)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647" y="1874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Sweet spot for
differentiation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64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Close rate: 55–90%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647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D42"/>
                </a:solidFill>
                <a:latin typeface="Segoe UI"/>
              </a:rPr>
              <a:t>Best methods
identifiable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1807" y="1143000"/>
            <a:ext cx="3200400" cy="320040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61807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B2D42"/>
                </a:solidFill>
                <a:latin typeface="Segoe UI"/>
              </a:rPr>
              <a:t>Large k (k≥10)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1807" y="1874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All methods
converge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180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2D42"/>
                </a:solidFill>
                <a:latin typeface="Segoe UI"/>
              </a:rPr>
              <a:t>Close rate: ~100%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1807" y="3337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2D42"/>
                </a:solidFill>
                <a:latin typeface="Segoe UI"/>
              </a:rPr>
              <a:t>Simplified
sufficient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2D42"/>
                </a:solidFill>
                <a:latin typeface="Segoe UI"/>
              </a:rPr>
              <a:t>This is the central finding: the value of method selection depends on the intervention scale k</a:t>
            </a:r>
          </a:p>
        </p:txBody>
      </p:sp>
    </p:spTree>
    <p:extLst>
      <p:ext uri="{BB962C8B-B14F-4D97-AF65-F5344CB8AC3E}">
        <p14:creationId xmlns:p14="http://schemas.microsoft.com/office/powerpoint/2010/main" val="3201377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alatino Linotype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Performance comparison across scenarios and intervention scales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2D42"/>
                </a:solidFill>
                <a:latin typeface="Segoe UI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872305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COVID-19: Close Rates by 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pic>
        <p:nvPicPr>
          <p:cNvPr id="20" name="Picture 19" descr="covid_k5_close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Close rate = fraction of trials where R_m ≥ 0.80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At k=5: best methods achieve 89.8% close rate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At k≥10: all methods converge to ~100%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PCA×x_i shows slight advantage at small k</a:t>
            </a:r>
          </a:p>
        </p:txBody>
      </p:sp>
    </p:spTree>
    <p:extLst>
      <p:ext uri="{BB962C8B-B14F-4D97-AF65-F5344CB8AC3E}">
        <p14:creationId xmlns:p14="http://schemas.microsoft.com/office/powerpoint/2010/main" val="1103235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COVID-19: Ratio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pic>
        <p:nvPicPr>
          <p:cNvPr id="20" name="Picture 19" descr="covid_k5_ratio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Distribution of R_m across 2,000 trials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Tighter distributions = more consistent performance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Most distributions cluster near 1.0 for k≥7</a:t>
            </a:r>
          </a:p>
        </p:txBody>
      </p:sp>
    </p:spTree>
    <p:extLst>
      <p:ext uri="{BB962C8B-B14F-4D97-AF65-F5344CB8AC3E}">
        <p14:creationId xmlns:p14="http://schemas.microsoft.com/office/powerpoint/2010/main" val="3719406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Manpower: Close Rates by 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pic>
        <p:nvPicPr>
          <p:cNvPr id="20" name="Picture 19" descr="manpower_k5_close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At k=5: FL×x_i and Total Output lead at 55.4%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Supply-only shocks are harder to approximate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Faster convergence: ~97% close rate by k=7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c*=0 makes dynamics more predictable</a:t>
            </a:r>
          </a:p>
        </p:txBody>
      </p:sp>
    </p:spTree>
    <p:extLst>
      <p:ext uri="{BB962C8B-B14F-4D97-AF65-F5344CB8AC3E}">
        <p14:creationId xmlns:p14="http://schemas.microsoft.com/office/powerpoint/2010/main" val="13651021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Head-to-Head: COVID vs Manpower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143000"/>
            <a:ext cx="5120640" cy="4114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B2D42"/>
                </a:solidFill>
                <a:latin typeface="Segoe UI"/>
              </a:rPr>
              <a:t>Best Method at Each 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43000"/>
            <a:ext cx="5120640" cy="411480"/>
          </a:xfrm>
          <a:prstGeom prst="roundRect">
            <a:avLst/>
          </a:prstGeom>
          <a:solidFill>
            <a:srgbClr val="F2F4F8"/>
          </a:solidFill>
          <a:ln w="12700" cap="flat" cmpd="sng" algn="ctr">
            <a:solidFill>
              <a:srgbClr val="3D5A8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B2D42"/>
                </a:solidFill>
                <a:latin typeface="Segoe UI"/>
              </a:rPr>
              <a:t>Key Observations</a:t>
            </a:r>
          </a:p>
        </p:txBody>
      </p:sp>
      <p:pic>
        <p:nvPicPr>
          <p:cNvPr id="22" name="Picture 21" descr="enhanced_best_a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120640" cy="4754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17920" y="16459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Economic size (Total Output) dominates both scenarios when weighted by x_i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At large k: specific ranking is immaterial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COVID-19 shows more method differentiation (due to c* ≠ 0)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Manpower converges faster (pure supply dynamics more predictable)</a:t>
            </a:r>
          </a:p>
        </p:txBody>
      </p:sp>
    </p:spTree>
    <p:extLst>
      <p:ext uri="{BB962C8B-B14F-4D97-AF65-F5344CB8AC3E}">
        <p14:creationId xmlns:p14="http://schemas.microsoft.com/office/powerpoint/2010/main" val="2186057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Scatter: Simplified vs DIIM Loss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pic>
        <p:nvPicPr>
          <p:cNvPr id="20" name="Picture 19" descr="scatter_covid_19_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858000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11430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Each point = one Monte Carlo trial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45° line = perfect match with DIIM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Points above line: simplified outperforms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Points below: DIIM would have been better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2B2D42"/>
                </a:solidFill>
                <a:latin typeface="Segoe UI"/>
              </a:rPr>
              <a:t>•  Clustering near the line = good agreement</a:t>
            </a:r>
          </a:p>
        </p:txBody>
      </p:sp>
    </p:spTree>
    <p:extLst>
      <p:ext uri="{BB962C8B-B14F-4D97-AF65-F5344CB8AC3E}">
        <p14:creationId xmlns:p14="http://schemas.microsoft.com/office/powerpoint/2010/main" val="23267407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alatino Linotype"/>
              </a:rPr>
              <a:t>Robustness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0126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B2D42"/>
                </a:solidFill>
                <a:latin typeface="Segoe UI"/>
              </a:rPr>
              <a:t>Results hold across timing, parameter, and profile variations</a:t>
            </a:r>
          </a:p>
        </p:txBody>
      </p:sp>
      <p:pic>
        <p:nvPicPr>
          <p:cNvPr id="21" name="Picture 20" descr="intervention_timing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029200" cy="2103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Intervention Timing</a:t>
            </a:r>
          </a:p>
        </p:txBody>
      </p:sp>
      <p:pic>
        <p:nvPicPr>
          <p:cNvPr id="23" name="Picture 22" descr="pca_robustness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5029200" cy="21031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PCA Robustness</a:t>
            </a:r>
          </a:p>
        </p:txBody>
      </p:sp>
      <p:pic>
        <p:nvPicPr>
          <p:cNvPr id="25" name="Picture 24" descr="sensitivity_interven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5029200" cy="21031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" y="6263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Sensitivity Heatmap</a:t>
            </a:r>
          </a:p>
        </p:txBody>
      </p:sp>
      <p:pic>
        <p:nvPicPr>
          <p:cNvPr id="27" name="Picture 26" descr="decision_boundary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160520"/>
            <a:ext cx="5029200" cy="21031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0" y="6263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B2D42"/>
                </a:solidFill>
                <a:latin typeface="Segoe UI"/>
              </a:rPr>
              <a:t>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1145746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D4A843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alatino Linotype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When to use simplified methods vs full DIIM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DIIM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Simplified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Monte Carlo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Segoe UI"/>
              </a:rP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C6B7A"/>
                </a:solidFill>
                <a:latin typeface="Segoe U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7699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2D42"/>
                </a:solidFill>
                <a:latin typeface="Segoe UI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819870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Decision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7699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6E7A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Calibri"/>
              </a:rPr>
              <a:t>How many sectors to intervene in?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0927" y="2057400"/>
            <a:ext cx="3200400" cy="2286000"/>
          </a:xfrm>
          <a:prstGeom prst="roundRect">
            <a:avLst/>
          </a:prstGeom>
          <a:solidFill>
            <a:srgbClr val="F5F7FA"/>
          </a:solidFill>
          <a:ln w="1270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0927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Calibri"/>
              </a:rPr>
              <a:t>✓  k ≥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92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Use simplified method (any)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927" y="3246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All methods converge —
specific ranking is immaterial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5647" y="2057400"/>
            <a:ext cx="3200400" cy="2286000"/>
          </a:xfrm>
          <a:prstGeom prst="roundRect">
            <a:avLst/>
          </a:prstGeom>
          <a:solidFill>
            <a:srgbClr val="F5F7FA"/>
          </a:solidFill>
          <a:ln w="1270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95647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Calibri"/>
              </a:rPr>
              <a:t>⚠  k = 5–7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564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Use simplified, validate with DIIM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5647" y="3246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Methods differ —
validate for critical decisions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0367" y="2057400"/>
            <a:ext cx="3200400" cy="2286000"/>
          </a:xfrm>
          <a:prstGeom prst="roundRect">
            <a:avLst/>
          </a:prstGeom>
          <a:solidFill>
            <a:srgbClr val="F5F7FA"/>
          </a:solidFill>
          <a:ln w="1270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70367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Calibri"/>
              </a:rPr>
              <a:t>✗  k &lt;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0367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Run full DIIM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0367" y="3246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2A4A"/>
                </a:solidFill>
                <a:latin typeface="Calibri"/>
              </a:rPr>
              <a:t>Simplified methods are insufficient —
sector selection matters too much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617720"/>
            <a:ext cx="8534095" cy="731520"/>
          </a:xfrm>
          <a:prstGeom prst="roundRect">
            <a:avLst/>
          </a:prstGeom>
          <a:solidFill>
            <a:srgbClr val="F5F7FA"/>
          </a:solidFill>
          <a:ln w="12700" cap="flat" cmpd="sng" algn="ctr">
            <a:solidFill>
              <a:srgbClr val="D0D9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1B2A4A"/>
                </a:solidFill>
                <a:latin typeface="Calibri"/>
              </a:rPr>
              <a:t>Peacetime / large-scale planning → Simplified methods sufficient    |    Targeted / crisis response → Full DIIM required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7699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6E7A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Calibri"/>
              </a:rPr>
              <a:t>Key Contributions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1874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Extended DIIM to two distinct disruption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331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A4A"/>
                </a:solidFill>
                <a:latin typeface="Calibri"/>
              </a:rPr>
              <a:t>COVID-19 (supply + demand) and Manpower (pure supply)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246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Demonstrated three performance regimes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7033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A4A"/>
                </a:solidFill>
                <a:latin typeface="Calibri"/>
              </a:rPr>
              <a:t>Small k: methods diverge | Medium k: sweet spot | Large k: convergence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6177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Provided actionable decision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0749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A4A"/>
                </a:solidFill>
                <a:latin typeface="Calibri"/>
              </a:rPr>
              <a:t>When to use simplified vs full DIIM based on intervention scale 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Future Work &amp; 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38860"/>
            <a:ext cx="12191695" cy="127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7613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213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DIIM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5186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786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DIIM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2759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1359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Simplified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0332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8932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Monte Carlo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7905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505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46E7A"/>
                </a:solidFill>
                <a:latin typeface="Calibri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5478" y="7772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7699" y="822960"/>
            <a:ext cx="1041729" cy="18288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54078" y="777240"/>
            <a:ext cx="1388973" cy="27432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46E7A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Future Directions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6916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B2A4A"/>
                </a:solidFill>
                <a:latin typeface="Calibri"/>
              </a:rPr>
              <a:t>•  Broader disruption scenarios (supply chain, cyber, climate)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B2A4A"/>
                </a:solidFill>
                <a:latin typeface="Calibri"/>
              </a:rPr>
              <a:t>•  Dynamic simplified methods that adapt to observed shocks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B2A4A"/>
                </a:solidFill>
                <a:latin typeface="Calibri"/>
              </a:rPr>
              <a:t>•  Higher sector granularity (beyond 15 sectors)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B2A4A"/>
                </a:solidFill>
                <a:latin typeface="Calibri"/>
              </a:rPr>
              <a:t>•  Cross-country comparison with other IO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143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B2A4A"/>
                </a:solidFill>
                <a:latin typeface="Calibri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14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B2A4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B2A4A"/>
                </a:solidFill>
                <a:latin typeface="Calibri"/>
              </a:rPr>
              <a:t>Yeoh Yu Yong
Nanyang Technological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4519066305]">
  <a:themeElements>
    <a:clrScheme name="Academic Formal">
      <a:dk1>
        <a:srgbClr val="2B2D42"/>
      </a:dk1>
      <a:lt1>
        <a:srgbClr val="FFFFFF"/>
      </a:lt1>
      <a:dk2>
        <a:srgbClr val="3D5A80"/>
      </a:dk2>
      <a:lt2>
        <a:srgbClr val="F2F4F8"/>
      </a:lt2>
      <a:accent1>
        <a:srgbClr val="3D5A80"/>
      </a:accent1>
      <a:accent2>
        <a:srgbClr val="8D99AE"/>
      </a:accent2>
      <a:accent3>
        <a:srgbClr val="2B2D42"/>
      </a:accent3>
      <a:accent4>
        <a:srgbClr val="5C6B7A"/>
      </a:accent4>
      <a:accent5>
        <a:srgbClr val="98A8B8"/>
      </a:accent5>
      <a:accent6>
        <a:srgbClr val="C4CDD5"/>
      </a:accent6>
      <a:hlink>
        <a:srgbClr val="0000FF"/>
      </a:hlink>
      <a:folHlink>
        <a:srgbClr val="800080"/>
      </a:folHlink>
    </a:clrScheme>
    <a:fontScheme name="Academic">
      <a:majorFont>
        <a:latin typeface="Palatino Linoty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34E5933-B53C-634B-A35C-31885644F2CC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3051</Words>
  <Application>Microsoft Macintosh PowerPoint</Application>
  <PresentationFormat>Widescreen</PresentationFormat>
  <Paragraphs>801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Cambria Math</vt:lpstr>
      <vt:lpstr>Georgia</vt:lpstr>
      <vt:lpstr>Palatino Linotype</vt:lpstr>
      <vt:lpstr>Segoe UI</vt:lpstr>
      <vt:lpstr>Office Theme [1774519066305]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Yong Yeoh</cp:lastModifiedBy>
  <cp:revision>3</cp:revision>
  <dcterms:created xsi:type="dcterms:W3CDTF">2013-01-27T09:14:16Z</dcterms:created>
  <dcterms:modified xsi:type="dcterms:W3CDTF">2026-03-26T12:24:02Z</dcterms:modified>
  <cp:category/>
</cp:coreProperties>
</file>