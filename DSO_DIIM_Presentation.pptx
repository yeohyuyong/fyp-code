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828800"/>
            <a:ext cx="8534095" cy="508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Economic Resilience Assessment Using the
Dynamic Inoperability Input-Output Model (DIIM)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97A7"/>
                </a:solidFill>
                <a:latin typeface="Calibri"/>
              </a:rPr>
              <a:t>Final Year Project  —  Presented to DSO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Yeoh Yu Yong
Supervisor: Assoc Prof Santos
Nanyang Technological University
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6217920"/>
            <a:ext cx="8534095" cy="254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787549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261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Calibri"/>
              </a:rPr>
              <a:t>Singapore’s economy is interconnected — a shock to one sector cascades to all others.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05740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COVID-19 shutdowns disrupted construction, which deprived building-material manufacturers of demand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Transport restrictions cascaded into logistics and food supply chains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Grey zone conflicts could trigger rapid foreign worker departures, disrupting labour-dependent sectors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617720"/>
            <a:ext cx="9448495" cy="109728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>
                <a:solidFill>
                  <a:srgbClr val="2C3E50"/>
                </a:solidFill>
                <a:latin typeface="Calibri"/>
              </a:rPr>
              <a:t>🔍  Key Question: How do we quickly identify which sectors to prioritise for intervention during a crisis?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261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1143000"/>
            <a:ext cx="548640" cy="54864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11430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Apply the DIIM to two disruption scenarios:
COVID-19 pandemic  &amp;  Manpower disruption (grey zone conflict)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6974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Benchmark five simplified sector-ranking methods
against the full DIIM simulation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251960"/>
            <a:ext cx="548640" cy="54864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519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Determine when simplified methods are sufficient
vs when the full DIIM is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Presentation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261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0907" y="1874520"/>
            <a:ext cx="1554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0907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843"/>
                </a:solidFill>
                <a:latin typeface="Calibr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907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DIIM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907" y="3063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7A89"/>
                </a:solidFill>
                <a:latin typeface="Calibri"/>
              </a:rPr>
              <a:t>Model construction
&amp; components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5387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C7A89"/>
                </a:solidFill>
                <a:latin typeface="Calibri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43987" y="1874520"/>
            <a:ext cx="1554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43987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843"/>
                </a:solidFill>
                <a:latin typeface="Calibr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43987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DIIM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43987" y="3063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7A89"/>
                </a:solidFill>
                <a:latin typeface="Calibri"/>
              </a:rPr>
              <a:t>Inoperability &amp;
economic loss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8467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C7A89"/>
                </a:solidFill>
                <a:latin typeface="Calibri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27067" y="1874520"/>
            <a:ext cx="1554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27067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843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7067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Simplified
Methods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7067" y="3063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7A89"/>
                </a:solidFill>
                <a:latin typeface="Calibri"/>
              </a:rPr>
              <a:t>5 alternative
ranking approaches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1547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C7A89"/>
                </a:solidFill>
                <a:latin typeface="Calibri"/>
              </a:rPr>
              <a:t>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0147" y="1874520"/>
            <a:ext cx="1554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0147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843"/>
                </a:solidFill>
                <a:latin typeface="Calibr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0147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Monte Carlo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0147" y="3063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7A89"/>
                </a:solidFill>
                <a:latin typeface="Calibri"/>
              </a:rPr>
              <a:t>2,000 trial
robustness 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64627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C7A89"/>
                </a:solidFill>
                <a:latin typeface="Calibri"/>
              </a:rPr>
              <a:t>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93227" y="1874520"/>
            <a:ext cx="1554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93227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843"/>
                </a:solidFill>
                <a:latin typeface="Calibr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3227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Results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93227" y="3063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7A89"/>
                </a:solidFill>
                <a:latin typeface="Calibri"/>
              </a:rPr>
              <a:t>Close rates &amp;
performance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7707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C7A89"/>
                </a:solidFill>
                <a:latin typeface="Calibri"/>
              </a:rPr>
              <a:t>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76307" y="1874520"/>
            <a:ext cx="1554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76307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843"/>
                </a:solidFill>
                <a:latin typeface="Calibri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76307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Recommend-
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76307" y="3063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7A89"/>
                </a:solidFill>
                <a:latin typeface="Calibri"/>
              </a:rPr>
              <a:t>Decision
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D4A843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The DIIM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Construction of the Dynamic Inoperability Input-Output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DIIM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is Inoperability?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Inoperability measures the normalised production loss of each sector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9659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Derived from the Leontief input-output model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Measures how disruptions affect the functioning of each sector over time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Values range from 0 (fully operational) to 1 (complete shutdown)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1600200"/>
            <a:ext cx="3657600" cy="548640"/>
          </a:xfrm>
          <a:prstGeom prst="rect">
            <a:avLst/>
          </a:prstGeom>
          <a:solidFill>
            <a:srgbClr val="F4F5F7"/>
          </a:solidFill>
          <a:ln w="6350">
            <a:solidFill>
              <a:srgbClr val="6C7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1600200"/>
            <a:ext cx="3657600" cy="5486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1325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Calibri"/>
              </a:rPr>
              <a:t>Planned Production (100%)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429000"/>
            <a:ext cx="3657600" cy="548640"/>
          </a:xfrm>
          <a:prstGeom prst="rect">
            <a:avLst/>
          </a:prstGeom>
          <a:solidFill>
            <a:srgbClr val="F4F5F7"/>
          </a:solidFill>
          <a:ln w="6350">
            <a:solidFill>
              <a:srgbClr val="6C7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429000"/>
            <a:ext cx="21945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3154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Calibri"/>
              </a:rPr>
              <a:t>Degraded Production (60%)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343400"/>
            <a:ext cx="4572000" cy="91440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>
                <a:solidFill>
                  <a:srgbClr val="2C3E50"/>
                </a:solidFill>
                <a:latin typeface="Calibri"/>
              </a:rPr>
              <a:t>Inoperability = (Planned - Degraded) / Planned
= (100% - 60%) / 100% = 0.40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From IIM to DIIM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Calibri"/>
              </a:rPr>
              <a:t>Static IIM  →  Dynamic DIIM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1874520"/>
            <a:ext cx="47548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090"/>
                </a:solidFill>
                <a:latin typeface="Calibri"/>
              </a:rPr>
              <a:t>IIM (Static)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423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3E50"/>
                </a:solidFill>
                <a:latin typeface="Calibri"/>
              </a:rPr>
              <a:t>q = A*q + c*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971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C7A89"/>
                </a:solidFill>
                <a:latin typeface="Calibri"/>
              </a:rPr>
              <a:t>Equilibrium state only — no time dynamics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331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D4A843"/>
                </a:solidFill>
                <a:latin typeface="Calibri"/>
              </a:rPr>
              <a:t>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874520"/>
            <a:ext cx="50292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965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7A7"/>
                </a:solidFill>
                <a:latin typeface="Calibri"/>
              </a:rPr>
              <a:t>DIIM (Dynamic)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423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Calibri"/>
              </a:rPr>
              <a:t>q(t+1) = q(t) + K[A*q(t) + c* − q(t)]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971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C7A89"/>
                </a:solidFill>
                <a:latin typeface="Calibri"/>
              </a:rPr>
              <a:t>Adds time variable t and recovery matrix 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K is a diagonal matrix — recovery depends only on each sector’s own capacity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Larger diagonal elements = stronger recovery capacity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t is discrete time; q(t) is the inoperability vector at time 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DIIM Formula: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1430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q(t+1) = q(t) + K [ A* q(t) + c* − q(t) 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0927" y="2331720"/>
            <a:ext cx="1920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0927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7A7"/>
                </a:solidFill>
                <a:latin typeface="Calibri"/>
              </a:rPr>
              <a:t>q(t)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0927" y="2971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Inoperability
vector at time 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78327" y="2331720"/>
            <a:ext cx="1920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78327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5090"/>
                </a:solidFill>
                <a:latin typeface="Calibri"/>
              </a:rPr>
              <a:t>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327" y="2971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Recovery capacity
(diagonal matrix)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35727" y="2331720"/>
            <a:ext cx="1920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35727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843"/>
                </a:solidFill>
                <a:latin typeface="Calibri"/>
              </a:rPr>
              <a:t>A*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5727" y="2971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Interdependency
matrix (from IO table)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93127" y="2331720"/>
            <a:ext cx="1920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93127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0392B"/>
                </a:solidFill>
                <a:latin typeface="Calibri"/>
              </a:rPr>
              <a:t>c*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3127" y="2971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Demand
perturbation vector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50527" y="2331720"/>
            <a:ext cx="1920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0527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7AE60"/>
                </a:solidFill>
                <a:latin typeface="Calibri"/>
              </a:rPr>
              <a:t>q(0)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0527" y="2971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Initial shock
(starting condition)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0" y="4343400"/>
            <a:ext cx="7619695" cy="73152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>
                <a:solidFill>
                  <a:srgbClr val="2C3E50"/>
                </a:solidFill>
                <a:latin typeface="Calibri"/>
              </a:rPr>
              <a:t>➡  We will now show how each component is obtained from real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C7A89"/>
                </a:solidFill>
                <a:latin typeface="Calibri"/>
              </a:rPr>
              <a:t>Two phases:  Lockdown (c* ≠ 0)  →  Recovery (c* = 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Obtaining A* — Interdependency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3847" y="1143000"/>
            <a:ext cx="9144000" cy="4114800"/>
          </a:xfrm>
          <a:prstGeom prst="rect">
            <a:avLst/>
          </a:prstGeom>
          <a:solidFill>
            <a:srgbClr val="E8E8E8"/>
          </a:solidFill>
          <a:ln w="12700">
            <a:solidFill>
              <a:srgbClr val="6C7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C7A89"/>
                </a:solidFill>
                <a:latin typeface="Calibri"/>
              </a:rPr>
              <a:t>[Insert image]
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949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A89"/>
                </a:solidFill>
                <a:latin typeface="Calibri"/>
              </a:rPr>
              <a:t>A* = x⁻¹ A x  where A is the technical coefficient matrix from the IO table and x is total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5216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15×15 Input-Output Table from Singapore’s Department of Statistics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A = raw IO flows / total output of purchasing sector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A* normalises A by sector size for inoperability space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2019 IO table used for COVID-19; 2022 IO table for Manpower scenario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Obtaining K — Recovery Capacity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3847" y="1143000"/>
            <a:ext cx="9144000" cy="4114800"/>
          </a:xfrm>
          <a:prstGeom prst="rect">
            <a:avLst/>
          </a:prstGeom>
          <a:solidFill>
            <a:srgbClr val="E8E8E8"/>
          </a:solidFill>
          <a:ln w="12700">
            <a:solidFill>
              <a:srgbClr val="6C7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C7A89"/>
                </a:solidFill>
                <a:latin typeface="Calibri"/>
              </a:rPr>
              <a:t>[Insert image]
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949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A89"/>
                </a:solidFill>
                <a:latin typeface="Calibri"/>
              </a:rPr>
              <a:t>K is a diagonal matrix where each K_ii represents sector i’s recovery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5216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K is diagonal: sector recovery depends only on its own production capacity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Larger K_ii = faster recovery from disruption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Estimated from historical recovery patterns (Santos et al., 2009)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Terminal condition: inoperability at end = 1% of initial inoperability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Obtaining q(0) — COVID-19 Initial Inoperability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3847" y="1143000"/>
            <a:ext cx="9144000" cy="4114800"/>
          </a:xfrm>
          <a:prstGeom prst="rect">
            <a:avLst/>
          </a:prstGeom>
          <a:solidFill>
            <a:srgbClr val="E8E8E8"/>
          </a:solidFill>
          <a:ln w="12700">
            <a:solidFill>
              <a:srgbClr val="6C7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C7A89"/>
                </a:solidFill>
                <a:latin typeface="Calibri"/>
              </a:rPr>
              <a:t>[Insert image]
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949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A89"/>
                </a:solidFill>
                <a:latin typeface="Calibri"/>
              </a:rPr>
              <a:t>q(0) estimated from sector-level unemployment rates during COVID-19 lockdown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5216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Source: Ministry of Manpower unemployment data (19 years)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Linear regression + 4-year moving average to estimate “normal” 2020 rate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q(0) = (actual rate − expected rate) / expected rate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Mapped from MOM sectors to IOT 15-sector classification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Obtaining c* — Demand Perturbation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3847" y="1143000"/>
            <a:ext cx="9144000" cy="4114800"/>
          </a:xfrm>
          <a:prstGeom prst="rect">
            <a:avLst/>
          </a:prstGeom>
          <a:solidFill>
            <a:srgbClr val="E8E8E8"/>
          </a:solidFill>
          <a:ln w="12700">
            <a:solidFill>
              <a:srgbClr val="6C7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C7A89"/>
                </a:solidFill>
                <a:latin typeface="Calibri"/>
              </a:rPr>
              <a:t>[Insert image]
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949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A89"/>
                </a:solidFill>
                <a:latin typeface="Calibri"/>
              </a:rPr>
              <a:t>c* captures the demand-side shock during the lockdown period; c* = 0 during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5216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Estimated from GDP decline data (SingStat Table Builder)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c* represents reduced final demand during disruption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Active only during lockdown phase; set to 0 during recovery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For Manpower scenario: c* = 0 (pure supply-side shock, no demand perturbation)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Obtaining q(0) — Manpower Disruption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3847" y="1143000"/>
            <a:ext cx="9144000" cy="4114800"/>
          </a:xfrm>
          <a:prstGeom prst="rect">
            <a:avLst/>
          </a:prstGeom>
          <a:solidFill>
            <a:srgbClr val="E8E8E8"/>
          </a:solidFill>
          <a:ln w="12700">
            <a:solidFill>
              <a:srgbClr val="6C7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C7A89"/>
                </a:solidFill>
                <a:latin typeface="Calibri"/>
              </a:rPr>
              <a:t>[Insert image]
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949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A89"/>
                </a:solidFill>
                <a:latin typeface="Calibri"/>
              </a:rPr>
              <a:t>q(0) based on foreign worker dependency ratios by sector (2022 data)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5216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Source: SG Foreign Manpower Dependency 2022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Sectors with higher foreign worker share → higher initial inoperability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2022 IO table aggregated to 15 sectors for consistency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Key difference from COVID: c* = 0 (pure supply shock from worker departures)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Timeline &amp; Assumptions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Model Parameters &amp; Assumptions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057400"/>
            <a:ext cx="9144000" cy="1371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2057400"/>
            <a:ext cx="488746" cy="137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1737360"/>
            <a:ext cx="48874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392B"/>
                </a:solidFill>
                <a:latin typeface="Calibri"/>
              </a:rPr>
              <a:t>Lockdown
7 Apr – 1 Jun 2020 (55 days)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0346" y="1737360"/>
            <a:ext cx="865525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5090"/>
                </a:solidFill>
                <a:latin typeface="Calibri"/>
              </a:rPr>
              <a:t>Recovery
2 Jun 2020 – 1 Feb 2023 (974 days)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88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No further shocks after initial lockdown period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Terminal inoperability = 1% of initial inoperability (Santos et al., 2009)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Production distributed evenly over the year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Lockdown phase: c* ≠ 0 (demand shock active)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Recovery phase: c* = 0 (demand returns to normal)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788920"/>
            <a:ext cx="4572000" cy="228600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>
                <a:solidFill>
                  <a:srgbClr val="2C3E50"/>
                </a:solidFill>
                <a:latin typeface="Calibri"/>
              </a:rPr>
              <a:t>Manpower Scenario Differences:
•  2022 IO table (vs 2019)
•  c* = 0 throughout (pure supply shock)
•  q(0) from foreign worker dependency
•  Same recovery framework applies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D4A843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DIIM Simulation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Inoperability propagation and economic loss across sectors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7407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DIIM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Inoperability Evolution — COVID-19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7407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pic>
        <p:nvPicPr>
          <p:cNvPr id="20" name="Picture 19" descr="Inoperability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858000" cy="4389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11430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Each line = one sector’s inoperability over time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Sharp rise during lockdown (c* ≠ 0)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Gradual recovery after lockdown ends (c* = 0)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Some sectors recover faster (higher K_ii)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DIIM captures the full cascade dynamics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Economic Loss Calculation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7407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Economic loss per sector per time step: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187452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97A7"/>
                </a:solidFill>
                <a:latin typeface="Calibri"/>
              </a:rPr>
              <a:t>Loss_i(t) = x_i × q_i(t) / 365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971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43"/>
                </a:solidFill>
                <a:latin typeface="Calibri"/>
              </a:rPr>
              <a:t>x_i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971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=  Daily output of sector i under normal 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520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43"/>
                </a:solidFill>
                <a:latin typeface="Calibri"/>
              </a:rPr>
              <a:t>q_i(t)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520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=  Inoperability of sector i at time 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069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43"/>
                </a:solidFill>
                <a:latin typeface="Calibri"/>
              </a:rPr>
              <a:t>365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069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=  Days in a year (evenly distributed production)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C7A89"/>
                </a:solidFill>
                <a:latin typeface="Calibri"/>
              </a:rPr>
              <a:t>Total economic loss = ∑ Loss_i(t)  summed over all sectors and time steps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COVID-19 vs Manpower: Economic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7407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1143000"/>
            <a:ext cx="5120640" cy="411480"/>
          </a:xfrm>
          <a:prstGeom prst="round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COVID-19 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143000"/>
            <a:ext cx="5120640" cy="41148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Manpower Scenario</a:t>
            </a:r>
          </a:p>
        </p:txBody>
      </p:sp>
      <p:pic>
        <p:nvPicPr>
          <p:cNvPr id="22" name="Picture 21" descr="Economic_Loss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120640" cy="4114800"/>
          </a:xfrm>
          <a:prstGeom prst="rect">
            <a:avLst/>
          </a:prstGeom>
        </p:spPr>
      </p:pic>
      <p:pic>
        <p:nvPicPr>
          <p:cNvPr id="23" name="Picture 22" descr="Economic_Loss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4114800"/>
          </a:xfrm>
          <a:prstGeom prst="rect">
            <a:avLst/>
          </a:prstGeom>
        </p:spPr>
      </p:pic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" y="5897880"/>
          <a:ext cx="10881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COVID-19</a:t>
                      </a:r>
                    </a:p>
                  </a:txBody>
                  <a:tcPr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Manpower</a:t>
                      </a:r>
                    </a:p>
                  </a:txBody>
                  <a:tcPr>
                    <a:solidFill>
                      <a:srgbClr val="2E509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IO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Shock Type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Supply + Demand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Supply Only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Non-zero (lockdown)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q(0) Source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Unemployment rates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Foreign worker dependency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7407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143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D4A843"/>
                </a:solidFill>
                <a:latin typeface="Calibri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60604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C7A89"/>
                </a:solidFill>
                <a:latin typeface="Calibri"/>
              </a:rPr>
              <a:t>Can we identify critical sectors WITHOUT running the full DIIM?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33756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The DIIM requires crisis-time data (q(0), c*) that may not be available during an emergency. Simplified methods use only the IO table structure, which is always available.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5349240"/>
            <a:ext cx="8534095" cy="91440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>
                <a:solidFill>
                  <a:srgbClr val="2C3E50"/>
                </a:solidFill>
                <a:latin typeface="Calibri"/>
              </a:rPr>
              <a:t>If simplified methods match DIIM’s recommendations → faster, more practical decision-making in crisis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D4A843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Simplified Sector-Ranking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Five methods that use only the IO table to rank sectors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4980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Simplified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Five Simplified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4980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080" y="114300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Intuition</a:t>
                      </a:r>
                    </a:p>
                  </a:txBody>
                  <a:tcPr>
                    <a:solidFill>
                      <a:srgbClr val="0097A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rank by x_i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Biggest sectors matter most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PCA × x_i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PC distance × x_i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Structural influence + size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PageRank × x_i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PageRank centrality × x_i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Network importance +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BL × x_i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Backward linkage × x_i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Demand-pull influence + size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FL × x_i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Forward linkage × x_i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Supply-push influence +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1828800" y="4983480"/>
            <a:ext cx="8534095" cy="82296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>
                <a:solidFill>
                  <a:srgbClr val="2C3E50"/>
                </a:solidFill>
                <a:latin typeface="Calibri"/>
              </a:rPr>
              <a:t>💡  Key insight: All methods are weighted by total output (x_i) to reflect economic size. This means economic size is always a factor in the ranking.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Evaluation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4980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58087" y="1143000"/>
            <a:ext cx="21945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8087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5090"/>
                </a:solidFill>
                <a:latin typeface="Calibri"/>
              </a:rPr>
              <a:t>Step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8087" y="1691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3E50"/>
                </a:solidFill>
                <a:latin typeface="Calibri"/>
              </a:rPr>
              <a:t>Compute
Simplified
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8087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Static, no
simulation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2647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C7A89"/>
                </a:solidFill>
                <a:latin typeface="Calibri"/>
              </a:rPr>
              <a:t>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18407" y="1143000"/>
            <a:ext cx="21945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18407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97A7"/>
                </a:solidFill>
                <a:latin typeface="Calibri"/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18407" y="1691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3E50"/>
                </a:solidFill>
                <a:latin typeface="Calibri"/>
              </a:rPr>
              <a:t>Select
Top-k
Sectors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8407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Choose k most
important sectors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12967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C7A89"/>
                </a:solidFill>
                <a:latin typeface="Calibri"/>
              </a:rPr>
              <a:t>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8727" y="1143000"/>
            <a:ext cx="21945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8727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4A843"/>
                </a:solidFill>
                <a:latin typeface="Calibri"/>
              </a:rPr>
              <a:t>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8727" y="1691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3E50"/>
                </a:solidFill>
                <a:latin typeface="Calibri"/>
              </a:rPr>
              <a:t>Run DIIM
with
Intervention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8727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Reduce inoperability
for selected sectors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3287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C7A89"/>
                </a:solidFill>
                <a:latin typeface="Calibri"/>
              </a:rPr>
              <a:t>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39047" y="1143000"/>
            <a:ext cx="21945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39047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7AE60"/>
                </a:solidFill>
                <a:latin typeface="Calibri"/>
              </a:rPr>
              <a:t>Step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9047" y="1691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3E50"/>
                </a:solidFill>
                <a:latin typeface="Calibri"/>
              </a:rPr>
              <a:t>Compare
Loss
Reduction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9047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vs DIIM’s own
top-k selection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4069080"/>
            <a:ext cx="8534095" cy="146304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>
                <a:solidFill>
                  <a:srgbClr val="2C3E50"/>
                </a:solidFill>
                <a:latin typeface="Calibri"/>
              </a:rPr>
              <a:t>Performance Metric:  R_m = (Simplified reduction) / (DIIM reduction)
R_m = 1.0 means the simplified method matches DIIM perfectly
R_m &lt; 0.8 means the simplified method misses &gt;20% of DIIM’s benefit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 Rankings — Side by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4980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3847" y="1143000"/>
            <a:ext cx="9144000" cy="4114800"/>
          </a:xfrm>
          <a:prstGeom prst="rect">
            <a:avLst/>
          </a:prstGeom>
          <a:solidFill>
            <a:srgbClr val="E8E8E8"/>
          </a:solidFill>
          <a:ln w="12700">
            <a:solidFill>
              <a:srgbClr val="6C7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C7A89"/>
                </a:solidFill>
                <a:latin typeface="Calibri"/>
              </a:rPr>
              <a:t>[Insert image]
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949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A89"/>
                </a:solidFill>
                <a:latin typeface="Calibri"/>
              </a:rPr>
              <a:t>Each column shows one method’s sector ranking. Arrows highlight where rankings agree or disagree.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5216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Rankings are fixed (computed once from IO table)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These static rankings are then tested against 2,000 random disruption profiles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Key observation: most methods agree on the top 2–3 sectors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Loss Reduction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4980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How intervention reduces economic loss: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8745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1. For each selected sector i, reduce its inoperability: q_i(0) → q_i(0) × 0.5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2. Re-run DIIM with the modified q(0) vector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3. Compute total economic loss under intervention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4. Loss reduction = baseline loss − intervention loss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600200"/>
            <a:ext cx="4572000" cy="274320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>
                <a:solidFill>
                  <a:srgbClr val="2C3E50"/>
                </a:solidFill>
                <a:latin typeface="Calibri"/>
              </a:rPr>
              <a:t>The simplified ranking is fixed — it doesn’t change with q(0).
But DIIM’s optimal ranking can change with each disruption profile.
Question: How often does the simplified ranking still pick
the “right” sectors?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843"/>
                </a:solidFill>
                <a:latin typeface="Calibri"/>
              </a:rPr>
              <a:t>➡  Answer: Monte Carlo simulation with 2,000 random disruption profiles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D4A843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Monte Carlo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Testing robustness with 2,000 random disruption profiles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92553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Monte Carlo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Monte Carlo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92553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Start with real q(0) baseline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Perturb: q(0)_rand = q(0) × exp(N(0, 0.5))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Run DIIM baseline + DIIM with simplified top-k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Compute R_m = simplified / DIIM reduction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434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Repeat 2,000 times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1143000"/>
            <a:ext cx="4114800" cy="320040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>
                <a:solidFill>
                  <a:srgbClr val="2C3E50"/>
                </a:solidFill>
                <a:latin typeface="Calibri"/>
              </a:rPr>
              <a:t>Performance Metrics:
•  Mean Ratio (R̄_m):
   Average R_m across all 2,000 trials
•  80% Close Rate:
   Fraction of trials where R_m ≥ 0.80
   (simplified captures ≥80% of DIIM benefit)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Three Performance Regimes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92553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487" y="1143000"/>
            <a:ext cx="32004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87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392B"/>
                </a:solidFill>
                <a:latin typeface="Calibri"/>
              </a:rPr>
              <a:t>Small k (k=3)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487" y="1874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Methods diverge
significantly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487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  <a:latin typeface="Calibri"/>
              </a:rPr>
              <a:t>R̄_m: 0.65–0.87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487" y="3337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A89"/>
                </a:solidFill>
                <a:latin typeface="Calibri"/>
              </a:rPr>
              <a:t>Sector selection
matters most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95647" y="1143000"/>
            <a:ext cx="32004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5647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843"/>
                </a:solidFill>
                <a:latin typeface="Calibri"/>
              </a:rPr>
              <a:t>Medium k (k=5–7)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5647" y="1874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Sweet spot for
differentiation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5647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843"/>
                </a:solidFill>
                <a:latin typeface="Calibri"/>
              </a:rPr>
              <a:t>Close rate: 55–90%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5647" y="3337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A89"/>
                </a:solidFill>
                <a:latin typeface="Calibri"/>
              </a:rPr>
              <a:t>Best methods
identifiable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1807" y="1143000"/>
            <a:ext cx="32004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1807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7AE60"/>
                </a:solidFill>
                <a:latin typeface="Calibri"/>
              </a:rPr>
              <a:t>Large k (k≥10)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1807" y="1874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All methods
converge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1807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Calibri"/>
              </a:rPr>
              <a:t>Close rate: ~100%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1807" y="3337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A89"/>
                </a:solidFill>
                <a:latin typeface="Calibri"/>
              </a:rPr>
              <a:t>Simplified
sufficient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C7A89"/>
                </a:solidFill>
                <a:latin typeface="Calibri"/>
              </a:rPr>
              <a:t>This is the central finding: the value of method selection depends on the intervention scale 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D4A843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Performance comparison across scenarios and intervention scales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10126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COVID-19: Close Rates by 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0126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pic>
        <p:nvPicPr>
          <p:cNvPr id="20" name="Picture 19" descr="covid_k5_close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858000" cy="4389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11430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Close rate = fraction of trials where R_m ≥ 0.80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At k=5: best methods achieve 89.8% close rate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At k≥10: all methods converge to ~100%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PCA×x_i shows slight advantage at small 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COVID-19: Ratio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0126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pic>
        <p:nvPicPr>
          <p:cNvPr id="20" name="Picture 19" descr="covid_k5_ratio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858000" cy="4389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11430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Distribution of R_m across 2,000 trials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Tighter distributions = more consistent performance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Most distributions cluster near 1.0 for k≥7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Manpower: Close Rates by 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0126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pic>
        <p:nvPicPr>
          <p:cNvPr id="20" name="Picture 19" descr="manpower_k5_close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858000" cy="4389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11430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At k=5: FL×x_i and Total Output lead at 55.4%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Supply-only shocks are harder to approximate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Faster convergence: ~97% close rate by k=7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c*=0 makes dynamics more predictable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Head-to-Head: COVID vs Manpower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0126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1143000"/>
            <a:ext cx="5120640" cy="411480"/>
          </a:xfrm>
          <a:prstGeom prst="round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Best Method at Each 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143000"/>
            <a:ext cx="5120640" cy="41148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Key Observations</a:t>
            </a:r>
          </a:p>
        </p:txBody>
      </p:sp>
      <p:pic>
        <p:nvPicPr>
          <p:cNvPr id="22" name="Picture 21" descr="enhanced_best_at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120640" cy="4754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17920" y="16459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Economic size (Total Output) dominates both scenarios when weighted by x_i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At large k: specific ranking is immaterial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COVID-19 shows more method differentiation (due to c* ≠ 0)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Manpower converges faster (pure supply dynamics more predictable)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Scatter: Simplified vs DIIM Loss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0126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pic>
        <p:nvPicPr>
          <p:cNvPr id="20" name="Picture 19" descr="scatter_covid_19_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858000" cy="4389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11430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Each point = one Monte Carlo trial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45° line = perfect match with DIIM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Points above line: simplified outperforms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Points below: DIIM would have been better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 Clustering near the line = good agreement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Robustness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0126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C7A89"/>
                </a:solidFill>
                <a:latin typeface="Calibri"/>
              </a:rPr>
              <a:t>Results hold across timing, parameter, and profile variations</a:t>
            </a:r>
          </a:p>
        </p:txBody>
      </p:sp>
      <p:pic>
        <p:nvPicPr>
          <p:cNvPr id="21" name="Picture 20" descr="intervention_timing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5029200" cy="21031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" y="3794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7A89"/>
                </a:solidFill>
                <a:latin typeface="Calibri"/>
              </a:rPr>
              <a:t>Intervention Timing</a:t>
            </a:r>
          </a:p>
        </p:txBody>
      </p:sp>
      <p:pic>
        <p:nvPicPr>
          <p:cNvPr id="23" name="Picture 22" descr="pca_robustness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91640"/>
            <a:ext cx="5029200" cy="21031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43600" y="3794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7A89"/>
                </a:solidFill>
                <a:latin typeface="Calibri"/>
              </a:rPr>
              <a:t>PCA Robustness</a:t>
            </a:r>
          </a:p>
        </p:txBody>
      </p:sp>
      <p:pic>
        <p:nvPicPr>
          <p:cNvPr id="25" name="Picture 24" descr="sensitivity_interven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60520"/>
            <a:ext cx="5029200" cy="21031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0080" y="6263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7A89"/>
                </a:solidFill>
                <a:latin typeface="Calibri"/>
              </a:rPr>
              <a:t>Sensitivity Heatmap</a:t>
            </a:r>
          </a:p>
        </p:txBody>
      </p:sp>
      <p:pic>
        <p:nvPicPr>
          <p:cNvPr id="27" name="Picture 26" descr="decision_boundary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4160520"/>
            <a:ext cx="5029200" cy="21031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0" y="6263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7A89"/>
                </a:solidFill>
                <a:latin typeface="Calibri"/>
              </a:rPr>
              <a:t>Decision Boundary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D4A843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When to use simplified methods vs full DIIM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27699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Decision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7699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A4A"/>
                </a:solidFill>
                <a:latin typeface="Calibri"/>
              </a:rPr>
              <a:t>How many sectors to intervene in?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0927" y="2057400"/>
            <a:ext cx="32004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0927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7AE60"/>
                </a:solidFill>
                <a:latin typeface="Calibri"/>
              </a:rPr>
              <a:t>✓  k ≥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0927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Calibri"/>
              </a:rPr>
              <a:t>Use simplified method (any)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0927" y="32461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C7A89"/>
                </a:solidFill>
                <a:latin typeface="Calibri"/>
              </a:rPr>
              <a:t>All methods converge —
specific ranking is immaterial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95647" y="2057400"/>
            <a:ext cx="32004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5647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843"/>
                </a:solidFill>
                <a:latin typeface="Calibri"/>
              </a:rPr>
              <a:t>⚠  k = 5–7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5647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Calibri"/>
              </a:rPr>
              <a:t>Use simplified, validate with DIIM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5647" y="32461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C7A89"/>
                </a:solidFill>
                <a:latin typeface="Calibri"/>
              </a:rPr>
              <a:t>Methods differ —
validate for critical decisions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0367" y="2057400"/>
            <a:ext cx="32004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0367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0392B"/>
                </a:solidFill>
                <a:latin typeface="Calibri"/>
              </a:rPr>
              <a:t>✗  k &lt;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0367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Calibri"/>
              </a:rPr>
              <a:t>Run full DIIM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0367" y="32461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C7A89"/>
                </a:solidFill>
                <a:latin typeface="Calibri"/>
              </a:rPr>
              <a:t>Simplified methods are insufficient —
sector selection matters too much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4617720"/>
            <a:ext cx="8534095" cy="73152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>
                <a:solidFill>
                  <a:srgbClr val="2C3E50"/>
                </a:solidFill>
                <a:latin typeface="Calibri"/>
              </a:rPr>
              <a:t>Peacetime / large-scale planning → Simplified methods sufficient    |    Targeted / crisis response → Full DIIM required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7699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Calibri"/>
              </a:rPr>
              <a:t>Key Contributions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18745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  <a:latin typeface="Calibri"/>
              </a:rPr>
              <a:t>Extended DIIM to two distinct disruption scenarios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3317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C7A89"/>
                </a:solidFill>
                <a:latin typeface="Calibri"/>
              </a:rPr>
              <a:t>COVID-19 (supply + demand) and Manpower (pure supply)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2461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  <a:latin typeface="Calibri"/>
              </a:rPr>
              <a:t>Demonstrated three performance regimes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7033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C7A89"/>
                </a:solidFill>
                <a:latin typeface="Calibri"/>
              </a:rPr>
              <a:t>Small k: methods diverge | Medium k: sweet spot | Large k: convergence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6177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  <a:latin typeface="Calibri"/>
              </a:rPr>
              <a:t>Provided actionable decision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0749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C7A89"/>
                </a:solidFill>
                <a:latin typeface="Calibri"/>
              </a:rPr>
              <a:t>When to use simplified vs full DIIM based on intervention scale 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Future Work &amp; 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C7A89"/>
                </a:solidFill>
                <a:latin typeface="Calibri"/>
              </a:rPr>
              <a:t>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A89"/>
                </a:solidFill>
                <a:latin typeface="Calibr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7699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Future Directions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6916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Broader disruption scenarios (supply chain, cyber, climate)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Dynamic simplified methods that adapt to observed shocks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Higher sector granularity (beyond 15 sectors)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Cross-country comparison with other IO 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143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4A843"/>
                </a:solidFill>
                <a:latin typeface="Calibri"/>
              </a:rP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514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C7A89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86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C7A89"/>
                </a:solidFill>
                <a:latin typeface="Calibri"/>
              </a:rPr>
              <a:t>Yeoh Yu Yong
Nanyang Technological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